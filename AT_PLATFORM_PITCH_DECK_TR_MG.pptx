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AKILLI TARIM PLATFORMU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Türkiye'nin Tarımsal Dijital Dönüşümü</a:t>
            </a:r>
          </a:p>
        </p:txBody>
      </p:sp>
    </p:spTree>
  </p:cSld>
  <p:clrMapOvr>
    <a:masterClrMapping/>
  </p:clrMapOvr>
  <p:transition spd="med" advTm="3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Pazar Fırsatı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Türkiye'de</a:t>
            </a:r>
            <a:r>
              <a:rPr dirty="0"/>
              <a:t> </a:t>
            </a:r>
            <a:r>
              <a:rPr lang="tr-TR" dirty="0"/>
              <a:t>aktif </a:t>
            </a:r>
            <a:r>
              <a:rPr dirty="0"/>
              <a:t>3 </a:t>
            </a:r>
            <a:r>
              <a:rPr dirty="0" err="1"/>
              <a:t>milyon</a:t>
            </a:r>
            <a:r>
              <a:rPr dirty="0"/>
              <a:t> </a:t>
            </a:r>
            <a:r>
              <a:rPr dirty="0" err="1"/>
              <a:t>çiftlik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23 </a:t>
            </a:r>
            <a:r>
              <a:rPr dirty="0" err="1"/>
              <a:t>milyon</a:t>
            </a:r>
            <a:r>
              <a:rPr dirty="0"/>
              <a:t> </a:t>
            </a:r>
            <a:r>
              <a:rPr dirty="0" err="1"/>
              <a:t>hektar</a:t>
            </a:r>
            <a:r>
              <a:rPr dirty="0"/>
              <a:t> </a:t>
            </a:r>
            <a:r>
              <a:rPr dirty="0" err="1"/>
              <a:t>yönetim</a:t>
            </a:r>
            <a:r>
              <a:rPr dirty="0"/>
              <a:t> </a:t>
            </a:r>
            <a:r>
              <a:rPr dirty="0" err="1"/>
              <a:t>altında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~9 </a:t>
            </a:r>
            <a:r>
              <a:rPr dirty="0" err="1"/>
              <a:t>milyon</a:t>
            </a:r>
            <a:r>
              <a:rPr dirty="0"/>
              <a:t> </a:t>
            </a:r>
            <a:r>
              <a:rPr dirty="0" err="1"/>
              <a:t>kırsal</a:t>
            </a:r>
            <a:r>
              <a:rPr dirty="0"/>
              <a:t> </a:t>
            </a:r>
            <a:r>
              <a:rPr dirty="0" err="1"/>
              <a:t>nüfus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60-80 </a:t>
            </a:r>
            <a:r>
              <a:rPr dirty="0" err="1"/>
              <a:t>Milyar</a:t>
            </a:r>
            <a:r>
              <a:rPr dirty="0"/>
              <a:t> TL </a:t>
            </a:r>
            <a:r>
              <a:rPr dirty="0" err="1"/>
              <a:t>yıllık</a:t>
            </a:r>
            <a:r>
              <a:rPr dirty="0"/>
              <a:t> </a:t>
            </a:r>
            <a:r>
              <a:rPr dirty="0" err="1"/>
              <a:t>üretim</a:t>
            </a:r>
            <a:r>
              <a:rPr dirty="0"/>
              <a:t> </a:t>
            </a:r>
            <a:r>
              <a:rPr dirty="0" err="1"/>
              <a:t>değeri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• TAM: 4.5-5.75 </a:t>
            </a:r>
            <a:r>
              <a:rPr dirty="0" err="1"/>
              <a:t>Milyar</a:t>
            </a:r>
            <a:r>
              <a:rPr dirty="0"/>
              <a:t> TL (</a:t>
            </a:r>
            <a:r>
              <a:rPr dirty="0" err="1"/>
              <a:t>çiftçiler</a:t>
            </a:r>
            <a:r>
              <a:rPr dirty="0"/>
              <a:t> 500 TL/</a:t>
            </a:r>
            <a:r>
              <a:rPr dirty="0" err="1"/>
              <a:t>yıl</a:t>
            </a:r>
            <a:r>
              <a:rPr dirty="0"/>
              <a:t> </a:t>
            </a:r>
            <a:r>
              <a:rPr dirty="0" err="1"/>
              <a:t>harcamaya</a:t>
            </a:r>
            <a:r>
              <a:rPr dirty="0"/>
              <a:t> </a:t>
            </a:r>
            <a:r>
              <a:rPr dirty="0" err="1"/>
              <a:t>istekli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 advTm="3000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Dört Kritik Boşluk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1: </a:t>
            </a:r>
            <a:r>
              <a:rPr dirty="0" err="1"/>
              <a:t>Üretim</a:t>
            </a:r>
            <a:r>
              <a:rPr dirty="0"/>
              <a:t> </a:t>
            </a:r>
            <a:r>
              <a:rPr dirty="0" err="1"/>
              <a:t>Planlama</a:t>
            </a:r>
            <a:r>
              <a:rPr dirty="0"/>
              <a:t> — %85 </a:t>
            </a:r>
            <a:r>
              <a:rPr dirty="0" err="1"/>
              <a:t>çiftçi</a:t>
            </a:r>
            <a:r>
              <a:rPr dirty="0"/>
              <a:t> </a:t>
            </a:r>
            <a:r>
              <a:rPr dirty="0" err="1"/>
              <a:t>sezgisel</a:t>
            </a:r>
            <a:r>
              <a:rPr dirty="0"/>
              <a:t> </a:t>
            </a:r>
            <a:r>
              <a:rPr dirty="0" err="1"/>
              <a:t>çalışır</a:t>
            </a:r>
            <a:r>
              <a:rPr dirty="0"/>
              <a:t> (±%25 </a:t>
            </a:r>
            <a:r>
              <a:rPr dirty="0" err="1"/>
              <a:t>verim</a:t>
            </a:r>
            <a:r>
              <a:rPr dirty="0"/>
              <a:t> </a:t>
            </a:r>
            <a:r>
              <a:rPr dirty="0" err="1"/>
              <a:t>varyasyonu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2: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Erişimi</a:t>
            </a:r>
            <a:r>
              <a:rPr dirty="0"/>
              <a:t> — &lt;%10 </a:t>
            </a:r>
            <a:r>
              <a:rPr dirty="0" err="1"/>
              <a:t>ücretli</a:t>
            </a:r>
            <a:r>
              <a:rPr dirty="0"/>
              <a:t> </a:t>
            </a:r>
            <a:r>
              <a:rPr dirty="0" err="1"/>
              <a:t>danışmanlık</a:t>
            </a:r>
            <a:r>
              <a:rPr dirty="0"/>
              <a:t> </a:t>
            </a:r>
            <a:r>
              <a:rPr dirty="0" err="1"/>
              <a:t>kullanır</a:t>
            </a:r>
            <a:r>
              <a:rPr dirty="0"/>
              <a:t> (</a:t>
            </a:r>
            <a:r>
              <a:rPr dirty="0" err="1"/>
              <a:t>coğrafi</a:t>
            </a:r>
            <a:r>
              <a:rPr dirty="0"/>
              <a:t> </a:t>
            </a:r>
            <a:r>
              <a:rPr dirty="0" err="1"/>
              <a:t>izolasyon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3: </a:t>
            </a:r>
            <a:r>
              <a:rPr dirty="0" err="1"/>
              <a:t>Pazar</a:t>
            </a:r>
            <a:r>
              <a:rPr dirty="0"/>
              <a:t> </a:t>
            </a:r>
            <a:r>
              <a:rPr dirty="0" err="1"/>
              <a:t>Şeffaflığı</a:t>
            </a:r>
            <a:r>
              <a:rPr dirty="0"/>
              <a:t> — </a:t>
            </a:r>
            <a:r>
              <a:rPr dirty="0" err="1"/>
              <a:t>Çiftçiden</a:t>
            </a:r>
            <a:r>
              <a:rPr dirty="0"/>
              <a:t> </a:t>
            </a:r>
            <a:r>
              <a:rPr dirty="0" err="1"/>
              <a:t>tüketiciye</a:t>
            </a:r>
            <a:r>
              <a:rPr dirty="0"/>
              <a:t> </a:t>
            </a:r>
            <a:r>
              <a:rPr dirty="0" err="1"/>
              <a:t>görünürlük</a:t>
            </a:r>
            <a:r>
              <a:rPr dirty="0"/>
              <a:t> yok (meta </a:t>
            </a:r>
            <a:r>
              <a:rPr dirty="0" err="1"/>
              <a:t>fiyatlandırması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Boşluk</a:t>
            </a:r>
            <a:r>
              <a:rPr dirty="0"/>
              <a:t> 4: B2B </a:t>
            </a:r>
            <a:r>
              <a:rPr dirty="0" err="1"/>
              <a:t>Verimsizlik</a:t>
            </a:r>
            <a:r>
              <a:rPr dirty="0"/>
              <a:t> — </a:t>
            </a:r>
            <a:r>
              <a:rPr dirty="0" err="1"/>
              <a:t>Çiftçi</a:t>
            </a:r>
            <a:r>
              <a:rPr dirty="0"/>
              <a:t> </a:t>
            </a:r>
            <a:r>
              <a:rPr dirty="0" err="1"/>
              <a:t>gelirinin</a:t>
            </a:r>
            <a:r>
              <a:rPr dirty="0"/>
              <a:t> %40’ı </a:t>
            </a:r>
            <a:r>
              <a:rPr lang="tr-TR" dirty="0"/>
              <a:t>tüccar</a:t>
            </a:r>
            <a:r>
              <a:rPr dirty="0"/>
              <a:t> </a:t>
            </a:r>
            <a:r>
              <a:rPr dirty="0" err="1"/>
              <a:t>aracılara</a:t>
            </a:r>
            <a:r>
              <a:rPr dirty="0"/>
              <a:t> </a:t>
            </a:r>
            <a:r>
              <a:rPr lang="tr-TR" dirty="0"/>
              <a:t>kaybediliyor</a:t>
            </a:r>
            <a:endParaRPr dirty="0"/>
          </a:p>
        </p:txBody>
      </p:sp>
    </p:spTree>
  </p:cSld>
  <p:clrMapOvr>
    <a:masterClrMapping/>
  </p:clrMapOvr>
  <p:transition spd="med" advTm="3000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Çiftçi Başına Mali Etki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Mevcut: Verim varyasyonu ±%25, Maliyet opaklığı, %12.5 gelir kaybı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AT Platformu ile: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+%20 verim iyileştirmesi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-%15 maliyet azaltması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+%20-30 şeffaflık primleri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Tahmini çiftçi gelir artışı: +%15-20/sezon (~150K TL)</a:t>
            </a:r>
          </a:p>
        </p:txBody>
      </p:sp>
    </p:spTree>
  </p:cSld>
  <p:clrMapOvr>
    <a:masterClrMapping/>
  </p:clrMapOvr>
  <p:transition spd="med" advTm="3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Çözüm: 5-Katmanlı 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1: Çiftçi Portalı (Web, Mobil, Ses) — Çevrimdışı-uyumlu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2: Altı Entegre Modül (FMIS) — Üretim, İzleme, Hayvancılık, Ekipman, Yardım, Pazar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3: Hizmet Entegrasyonu — Uzman ağı, ödemeler, devlet sistemleri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4: Veri Katmanı — Bulut veritabanları, API'ler, analitikler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5: BİT Omurgası — İnformasyon (uydu, YZ) + İletişim (mobil, SMS, çevrimdışı)</a:t>
            </a:r>
          </a:p>
        </p:txBody>
      </p:sp>
    </p:spTree>
  </p:cSld>
  <p:clrMapOvr>
    <a:masterClrMapping/>
  </p:clrMapOvr>
  <p:transition spd="med" advTm="3000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 err="1"/>
              <a:t>Çok</a:t>
            </a:r>
            <a:r>
              <a:rPr lang="tr-TR" dirty="0"/>
              <a:t> Kaynaklı </a:t>
            </a:r>
            <a:r>
              <a:rPr dirty="0"/>
              <a:t>Veri </a:t>
            </a:r>
            <a:r>
              <a:rPr lang="tr-TR" dirty="0"/>
              <a:t>Temini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Platform </a:t>
            </a:r>
            <a:r>
              <a:rPr dirty="0" err="1"/>
              <a:t>çiftçilerin</a:t>
            </a:r>
            <a:r>
              <a:rPr dirty="0"/>
              <a:t> </a:t>
            </a:r>
            <a:r>
              <a:rPr dirty="0" err="1"/>
              <a:t>doğal</a:t>
            </a:r>
            <a:r>
              <a:rPr dirty="0"/>
              <a:t> </a:t>
            </a:r>
            <a:r>
              <a:rPr dirty="0" err="1"/>
              <a:t>kullandığı</a:t>
            </a:r>
            <a:r>
              <a:rPr dirty="0"/>
              <a:t> </a:t>
            </a:r>
            <a:r>
              <a:rPr dirty="0" err="1"/>
              <a:t>veriyi</a:t>
            </a:r>
            <a:r>
              <a:rPr dirty="0"/>
              <a:t> </a:t>
            </a:r>
            <a:r>
              <a:rPr dirty="0" err="1"/>
              <a:t>kabul</a:t>
            </a:r>
            <a:r>
              <a:rPr dirty="0"/>
              <a:t> </a:t>
            </a:r>
            <a:r>
              <a:rPr dirty="0" err="1"/>
              <a:t>eder</a:t>
            </a:r>
            <a:r>
              <a:rPr dirty="0"/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Ses</a:t>
            </a:r>
            <a:r>
              <a:rPr dirty="0"/>
              <a:t> (STT + NLP) — "</a:t>
            </a:r>
            <a:r>
              <a:rPr dirty="0" err="1"/>
              <a:t>Kuzey</a:t>
            </a:r>
            <a:r>
              <a:rPr dirty="0"/>
              <a:t> </a:t>
            </a:r>
            <a:r>
              <a:rPr dirty="0" err="1"/>
              <a:t>tarlayı</a:t>
            </a:r>
            <a:r>
              <a:rPr dirty="0"/>
              <a:t> </a:t>
            </a:r>
            <a:r>
              <a:rPr dirty="0" err="1"/>
              <a:t>yarın</a:t>
            </a:r>
            <a:r>
              <a:rPr dirty="0"/>
              <a:t> </a:t>
            </a:r>
            <a:r>
              <a:rPr dirty="0" err="1"/>
              <a:t>sulamaya</a:t>
            </a:r>
            <a:r>
              <a:rPr dirty="0"/>
              <a:t> </a:t>
            </a:r>
            <a:r>
              <a:rPr dirty="0" err="1"/>
              <a:t>başla</a:t>
            </a:r>
            <a:r>
              <a:rPr dirty="0"/>
              <a:t>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Görüntü</a:t>
            </a:r>
            <a:r>
              <a:rPr dirty="0"/>
              <a:t> (OCR + CV) — </a:t>
            </a:r>
            <a:r>
              <a:rPr dirty="0" err="1"/>
              <a:t>Fatura</a:t>
            </a:r>
            <a:r>
              <a:rPr dirty="0"/>
              <a:t> → </a:t>
            </a:r>
            <a:r>
              <a:rPr dirty="0" err="1"/>
              <a:t>Harcama</a:t>
            </a:r>
            <a:r>
              <a:rPr dirty="0"/>
              <a:t>; </a:t>
            </a:r>
            <a:r>
              <a:rPr dirty="0" err="1"/>
              <a:t>Hastalık</a:t>
            </a:r>
            <a:r>
              <a:rPr dirty="0"/>
              <a:t> → YZ </a:t>
            </a:r>
            <a:r>
              <a:rPr dirty="0" err="1"/>
              <a:t>teşhis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Video (</a:t>
            </a:r>
            <a:r>
              <a:rPr dirty="0" err="1"/>
              <a:t>Eylem</a:t>
            </a:r>
            <a:r>
              <a:rPr dirty="0"/>
              <a:t> </a:t>
            </a:r>
            <a:r>
              <a:rPr dirty="0" err="1"/>
              <a:t>Tanıma</a:t>
            </a:r>
            <a:r>
              <a:rPr dirty="0"/>
              <a:t>) — 30 </a:t>
            </a:r>
            <a:r>
              <a:rPr dirty="0" err="1"/>
              <a:t>saniye</a:t>
            </a:r>
            <a:r>
              <a:rPr dirty="0"/>
              <a:t> </a:t>
            </a:r>
            <a:r>
              <a:rPr dirty="0" err="1"/>
              <a:t>tarla</a:t>
            </a:r>
            <a:r>
              <a:rPr dirty="0"/>
              <a:t> </a:t>
            </a:r>
            <a:r>
              <a:rPr dirty="0" err="1"/>
              <a:t>gezintisi</a:t>
            </a:r>
            <a:r>
              <a:rPr dirty="0"/>
              <a:t> → </a:t>
            </a:r>
            <a:r>
              <a:rPr dirty="0" err="1"/>
              <a:t>Ürün</a:t>
            </a:r>
            <a:r>
              <a:rPr dirty="0"/>
              <a:t> </a:t>
            </a:r>
            <a:r>
              <a:rPr dirty="0" err="1"/>
              <a:t>durumu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SMS/WhatsApp — </a:t>
            </a:r>
            <a:r>
              <a:rPr dirty="0" err="1"/>
              <a:t>Komut</a:t>
            </a:r>
            <a:r>
              <a:rPr dirty="0"/>
              <a:t> </a:t>
            </a:r>
            <a:r>
              <a:rPr dirty="0" err="1"/>
              <a:t>yürütmesi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Sensörler</a:t>
            </a:r>
            <a:r>
              <a:rPr dirty="0"/>
              <a:t> (IoT + </a:t>
            </a:r>
            <a:r>
              <a:rPr dirty="0" err="1"/>
              <a:t>Uydu</a:t>
            </a:r>
            <a:r>
              <a:rPr dirty="0"/>
              <a:t>) — </a:t>
            </a:r>
            <a:r>
              <a:rPr dirty="0" err="1"/>
              <a:t>Otomatik</a:t>
            </a:r>
            <a:r>
              <a:rPr dirty="0"/>
              <a:t> </a:t>
            </a:r>
            <a:r>
              <a:rPr dirty="0" err="1"/>
              <a:t>besle</a:t>
            </a:r>
            <a:r>
              <a:rPr dirty="0"/>
              <a:t>, </a:t>
            </a:r>
            <a:r>
              <a:rPr dirty="0" err="1"/>
              <a:t>manuel</a:t>
            </a:r>
            <a:r>
              <a:rPr dirty="0"/>
              <a:t> </a:t>
            </a:r>
            <a:r>
              <a:rPr dirty="0" err="1"/>
              <a:t>giriş</a:t>
            </a:r>
            <a:r>
              <a:rPr dirty="0"/>
              <a:t> yok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AR (</a:t>
            </a:r>
            <a:r>
              <a:rPr lang="tr-TR" dirty="0"/>
              <a:t>Artırılmış Gerçeklik</a:t>
            </a:r>
            <a:r>
              <a:rPr dirty="0"/>
              <a:t>) — </a:t>
            </a:r>
            <a:r>
              <a:rPr lang="tr-TR" dirty="0"/>
              <a:t>Ürünü </a:t>
            </a:r>
            <a:r>
              <a:rPr dirty="0" err="1"/>
              <a:t>Telefon</a:t>
            </a:r>
            <a:r>
              <a:rPr lang="tr-TR" dirty="0"/>
              <a:t>a göster</a:t>
            </a:r>
            <a:r>
              <a:rPr dirty="0"/>
              <a:t> → </a:t>
            </a:r>
            <a:r>
              <a:rPr lang="tr-TR" dirty="0"/>
              <a:t>Teşhis &amp; </a:t>
            </a:r>
            <a:r>
              <a:rPr dirty="0" err="1"/>
              <a:t>Tedavi</a:t>
            </a:r>
            <a:r>
              <a:rPr dirty="0"/>
              <a:t> overlay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Altı Ana Modül (FMIS)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FMIS.Agro — 90 günlük üretim planlama, maliyet muhasebesi, günlük disiplin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FMIS.Monitor — Uydu + IoT ürün sağlığı, YZ hastalık tespiti (72-saat erken uyarı)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FMIS.Hayvancılık — Giyilebilir sensörler, YZ veteriner teşhis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FMIS.Makina-Ekipman — P2P makine kiralama pazarı (3 kademeli seçenek)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FMIS.Yardım Masası — 24/7 YZ chatbot + uzman yükseltme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FMIS.Pazar-Erişim — B2B doğrudan satın alma + B2C QR izlenebilirlik</a:t>
            </a:r>
          </a:p>
        </p:txBody>
      </p:sp>
    </p:spTree>
  </p:cSld>
  <p:clrMapOvr>
    <a:masterClrMapping/>
  </p:clrMapOvr>
  <p:transition spd="med" advTm="3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Pazar Konumlandırması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Türkiye'de</a:t>
            </a:r>
            <a:r>
              <a:rPr dirty="0"/>
              <a:t> ENTEGRE </a:t>
            </a:r>
            <a:r>
              <a:rPr dirty="0" err="1"/>
              <a:t>tarım-teknoloji</a:t>
            </a:r>
            <a:r>
              <a:rPr lang="tr-TR" dirty="0"/>
              <a:t>sinde</a:t>
            </a:r>
            <a:r>
              <a:rPr dirty="0"/>
              <a:t> raki</a:t>
            </a:r>
            <a:r>
              <a:rPr lang="tr-TR" dirty="0"/>
              <a:t>p</a:t>
            </a:r>
            <a:r>
              <a:rPr dirty="0"/>
              <a:t> YOK</a:t>
            </a:r>
            <a:r>
              <a:rPr lang="tr-TR" dirty="0"/>
              <a:t>!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İlk </a:t>
            </a:r>
            <a:r>
              <a:rPr dirty="0" err="1"/>
              <a:t>hareket</a:t>
            </a:r>
            <a:r>
              <a:rPr dirty="0"/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Üretim</a:t>
            </a:r>
            <a:r>
              <a:rPr dirty="0"/>
              <a:t> </a:t>
            </a:r>
            <a:r>
              <a:rPr dirty="0" err="1"/>
              <a:t>planlama</a:t>
            </a:r>
            <a:r>
              <a:rPr dirty="0"/>
              <a:t> +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 + </a:t>
            </a:r>
            <a:r>
              <a:rPr dirty="0" err="1"/>
              <a:t>pazar</a:t>
            </a:r>
            <a:r>
              <a:rPr dirty="0"/>
              <a:t> </a:t>
            </a:r>
            <a:r>
              <a:rPr dirty="0" err="1"/>
              <a:t>erişimi</a:t>
            </a:r>
            <a:r>
              <a:rPr dirty="0"/>
              <a:t> (</a:t>
            </a:r>
            <a:r>
              <a:rPr dirty="0" err="1"/>
              <a:t>entegre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Devlet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entegrasyonu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tasarlanmış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Yerel</a:t>
            </a:r>
            <a:r>
              <a:rPr dirty="0"/>
              <a:t>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 (Dr. </a:t>
            </a:r>
            <a:r>
              <a:rPr dirty="0" err="1"/>
              <a:t>Koçak</a:t>
            </a:r>
            <a:r>
              <a:rPr dirty="0"/>
              <a:t>, 5.000+ agronomist </a:t>
            </a:r>
            <a:r>
              <a:rPr dirty="0" err="1"/>
              <a:t>ekosistemi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Gelir</a:t>
            </a:r>
            <a:r>
              <a:rPr dirty="0"/>
              <a:t>-ilk </a:t>
            </a:r>
            <a:r>
              <a:rPr dirty="0" err="1"/>
              <a:t>modeli</a:t>
            </a:r>
            <a:r>
              <a:rPr dirty="0"/>
              <a:t> (VC-</a:t>
            </a:r>
            <a:r>
              <a:rPr dirty="0" err="1"/>
              <a:t>bağımlı</a:t>
            </a:r>
            <a:r>
              <a:rPr dirty="0"/>
              <a:t> </a:t>
            </a:r>
            <a:r>
              <a:rPr dirty="0" err="1"/>
              <a:t>değildir</a:t>
            </a:r>
            <a:r>
              <a:rPr dirty="0"/>
              <a:t>, </a:t>
            </a:r>
            <a:r>
              <a:rPr dirty="0" err="1"/>
              <a:t>sponsorluklar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 advTm="3000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Gelir Modeli (5 Akış + Sponsorluklar)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Platform Geliri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Premium abonelik: 500 TL/ay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Uzman pazarı: %10-15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satın alma: %5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B2C izlenebilirlik: %8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Makina-Ekipman P2P: %15 komis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Sponsorluk Geliri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Bankalar (ödeme entegrasyonu)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Gıda şirketleri (satın alma erişimi)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Girdi tedarikçileri (pazar varlığı)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Sigorta (prim hedefleme)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Y1: 850K → Y3: 14.1M TL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Mali Projeksiyonlar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1: 2.7M TL gelir | Ay 9 başabaş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3: 70.38M TL gelir | %91 işletme marjı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5: 113M TL gelir | %89 işletme marjı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Birim Ekonomisi: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CAC: 1.500 TL (organik) → 20 TL (sponsorluk-yardımlı) = 75x iyileştirme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LTV: 59K TL | Geri ödeme: 3 ay | LTV/CAC: 40:1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Uygulama Yol Haritası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MVP (M0-6)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20-50 pilot çiftçi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Temel modüller: Agro + Monitor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pilot başlatma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30-50 uzman onboarding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Yatırım: ~3M 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Faz 1 (M6-12)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100-300 çiftçiye ölçekle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Uzman pazarı başlatma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Hayvancılık modülü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3+ gıda şirketi ortaklığı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Series A: 2.5-3.5M TL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lang="tr-TR" dirty="0"/>
              <a:t>Uzman </a:t>
            </a:r>
            <a:r>
              <a:rPr dirty="0"/>
              <a:t>Veri </a:t>
            </a:r>
            <a:r>
              <a:rPr lang="tr-TR" dirty="0"/>
              <a:t>Geliştirme</a:t>
            </a:r>
            <a:r>
              <a:rPr dirty="0"/>
              <a:t> </a:t>
            </a:r>
            <a:r>
              <a:rPr dirty="0" err="1"/>
              <a:t>Stratejisi</a:t>
            </a:r>
            <a:r>
              <a:rPr dirty="0"/>
              <a:t> (Y1-Y5)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1-2: YZ Temeli — Uydu + hava verisi (%80 bölgesel doğruluk)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2-3: Kitlesel Katılım — 150K+ uzman değerlendirmesi (parsel-düzey)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3-5: Sahici Zeka — ±%5 doğruluk, B2B veri lisanslama (15-20M TL/yıl)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Sonuç: Maschinenring'in 60 yıllık hendek 3-5 yılda inşa edin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Savunulabilir rekabetçi avantaj = Rakip giriş bariyeri</a:t>
            </a:r>
          </a:p>
        </p:txBody>
      </p:sp>
    </p:spTree>
  </p:cSld>
  <p:clrMapOvr>
    <a:masterClrMapping/>
  </p:clrMapOvr>
  <p:transition spd="med" advTm="3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Birim Ekonomisi &amp; Marjlar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Brüt</a:t>
            </a:r>
            <a:r>
              <a:rPr dirty="0"/>
              <a:t> Marj: %80-85 (SaaS + </a:t>
            </a:r>
            <a:r>
              <a:rPr dirty="0" err="1"/>
              <a:t>komis</a:t>
            </a:r>
            <a:r>
              <a:rPr lang="tr-TR" dirty="0"/>
              <a:t>yon</a:t>
            </a:r>
            <a:r>
              <a:rPr dirty="0"/>
              <a:t> </a:t>
            </a:r>
            <a:r>
              <a:rPr dirty="0" err="1"/>
              <a:t>modeli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İşletme</a:t>
            </a:r>
            <a:r>
              <a:rPr dirty="0"/>
              <a:t> </a:t>
            </a:r>
            <a:r>
              <a:rPr dirty="0" err="1"/>
              <a:t>Marjı</a:t>
            </a:r>
            <a:r>
              <a:rPr dirty="0"/>
              <a:t> </a:t>
            </a:r>
            <a:r>
              <a:rPr dirty="0" err="1"/>
              <a:t>İlerleme</a:t>
            </a:r>
            <a:r>
              <a:rPr dirty="0"/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</a:t>
            </a:r>
            <a:r>
              <a:rPr dirty="0" err="1"/>
              <a:t>Yıl</a:t>
            </a:r>
            <a:r>
              <a:rPr dirty="0"/>
              <a:t> 1: ~%8 (</a:t>
            </a:r>
            <a:r>
              <a:rPr dirty="0" err="1"/>
              <a:t>yatırım</a:t>
            </a:r>
            <a:r>
              <a:rPr dirty="0"/>
              <a:t> </a:t>
            </a:r>
            <a:r>
              <a:rPr dirty="0" err="1"/>
              <a:t>aşaması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</a:t>
            </a:r>
            <a:r>
              <a:rPr dirty="0" err="1"/>
              <a:t>Yıl</a:t>
            </a:r>
            <a:r>
              <a:rPr dirty="0"/>
              <a:t> 3: %91 (</a:t>
            </a:r>
            <a:r>
              <a:rPr dirty="0" err="1"/>
              <a:t>ölçek</a:t>
            </a:r>
            <a:r>
              <a:rPr dirty="0"/>
              <a:t> + </a:t>
            </a:r>
            <a:r>
              <a:rPr dirty="0" err="1"/>
              <a:t>sponsorluk</a:t>
            </a:r>
            <a:r>
              <a:rPr dirty="0"/>
              <a:t> </a:t>
            </a:r>
            <a:r>
              <a:rPr dirty="0" err="1"/>
              <a:t>kaldıraç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</a:t>
            </a:r>
            <a:r>
              <a:rPr dirty="0" err="1"/>
              <a:t>Yıl</a:t>
            </a:r>
            <a:r>
              <a:rPr dirty="0"/>
              <a:t> 5: %89 (</a:t>
            </a:r>
            <a:r>
              <a:rPr dirty="0" err="1"/>
              <a:t>olgun</a:t>
            </a:r>
            <a:r>
              <a:rPr dirty="0"/>
              <a:t>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Churn </a:t>
            </a:r>
            <a:r>
              <a:rPr dirty="0" err="1"/>
              <a:t>Hedefi</a:t>
            </a:r>
            <a:r>
              <a:rPr dirty="0"/>
              <a:t>: &lt;%5 </a:t>
            </a:r>
            <a:r>
              <a:rPr dirty="0" err="1"/>
              <a:t>aylık</a:t>
            </a:r>
            <a:r>
              <a:rPr dirty="0"/>
              <a:t> (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ağından</a:t>
            </a:r>
            <a:r>
              <a:rPr dirty="0"/>
              <a:t> </a:t>
            </a:r>
            <a:r>
              <a:rPr dirty="0" err="1"/>
              <a:t>yüksek</a:t>
            </a:r>
            <a:r>
              <a:rPr dirty="0"/>
              <a:t> </a:t>
            </a:r>
            <a:r>
              <a:rPr dirty="0" err="1"/>
              <a:t>katılım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 advTm="3000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rPr dirty="0" err="1"/>
              <a:t>Neden</a:t>
            </a:r>
            <a:r>
              <a:rPr dirty="0"/>
              <a:t> </a:t>
            </a:r>
            <a:r>
              <a:rPr dirty="0" err="1"/>
              <a:t>Kazanırız</a:t>
            </a:r>
            <a:r>
              <a:rPr lang="tr-TR" dirty="0"/>
              <a:t> ?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İlk </a:t>
            </a:r>
            <a:r>
              <a:rPr dirty="0" err="1"/>
              <a:t>hareket</a:t>
            </a:r>
            <a:r>
              <a:rPr dirty="0"/>
              <a:t> </a:t>
            </a:r>
            <a:r>
              <a:rPr dirty="0" err="1"/>
              <a:t>entegre</a:t>
            </a:r>
            <a:r>
              <a:rPr dirty="0"/>
              <a:t> </a:t>
            </a:r>
            <a:r>
              <a:rPr dirty="0" err="1"/>
              <a:t>tarım-teknoloji</a:t>
            </a:r>
            <a:r>
              <a:rPr lang="tr-TR" dirty="0"/>
              <a:t>sin</a:t>
            </a:r>
            <a:r>
              <a:rPr dirty="0"/>
              <a:t>de (</a:t>
            </a:r>
            <a:r>
              <a:rPr dirty="0" err="1"/>
              <a:t>Türkiye</a:t>
            </a:r>
            <a:r>
              <a:rPr lang="tr-TR" dirty="0"/>
              <a:t>’de</a:t>
            </a:r>
            <a:r>
              <a:rPr dirty="0"/>
              <a:t> raki</a:t>
            </a:r>
            <a:r>
              <a:rPr lang="tr-TR" dirty="0"/>
              <a:t>p</a:t>
            </a:r>
            <a:r>
              <a:rPr dirty="0"/>
              <a:t> yok)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Savunulabilir</a:t>
            </a:r>
            <a:r>
              <a:rPr dirty="0"/>
              <a:t> </a:t>
            </a: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hendekleri</a:t>
            </a:r>
            <a:r>
              <a:rPr dirty="0"/>
              <a:t> (Y3+ ±%5 </a:t>
            </a:r>
            <a:r>
              <a:rPr dirty="0" err="1"/>
              <a:t>doğruluk</a:t>
            </a:r>
            <a:r>
              <a:rPr dirty="0"/>
              <a:t> </a:t>
            </a:r>
            <a:r>
              <a:rPr dirty="0" err="1"/>
              <a:t>tahminleri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 (</a:t>
            </a:r>
            <a:r>
              <a:rPr lang="tr-TR" dirty="0"/>
              <a:t>Tanınmış bir uzmanın </a:t>
            </a:r>
            <a:r>
              <a:rPr dirty="0" err="1"/>
              <a:t>kredibilitesi</a:t>
            </a:r>
            <a:r>
              <a:rPr dirty="0"/>
              <a:t>, day-1 </a:t>
            </a:r>
            <a:r>
              <a:rPr dirty="0" err="1"/>
              <a:t>güven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İstisnaî</a:t>
            </a:r>
            <a:r>
              <a:rPr dirty="0"/>
              <a:t> </a:t>
            </a:r>
            <a:r>
              <a:rPr dirty="0" err="1"/>
              <a:t>birim</a:t>
            </a:r>
            <a:r>
              <a:rPr dirty="0"/>
              <a:t> </a:t>
            </a:r>
            <a:r>
              <a:rPr dirty="0" err="1"/>
              <a:t>ekonomisi</a:t>
            </a:r>
            <a:r>
              <a:rPr dirty="0"/>
              <a:t> (CAC 20 TL </a:t>
            </a:r>
            <a:r>
              <a:rPr dirty="0" err="1"/>
              <a:t>sponsorluklarla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Sürdürülebilir</a:t>
            </a:r>
            <a:r>
              <a:rPr dirty="0"/>
              <a:t> </a:t>
            </a:r>
            <a:r>
              <a:rPr dirty="0" err="1"/>
              <a:t>finansman</a:t>
            </a:r>
            <a:r>
              <a:rPr dirty="0"/>
              <a:t> (VC-</a:t>
            </a:r>
            <a:r>
              <a:rPr dirty="0" err="1"/>
              <a:t>bağımlı</a:t>
            </a:r>
            <a:r>
              <a:rPr dirty="0"/>
              <a:t> </a:t>
            </a:r>
            <a:r>
              <a:rPr dirty="0" err="1"/>
              <a:t>değil</a:t>
            </a:r>
            <a:r>
              <a:rPr dirty="0"/>
              <a:t>; </a:t>
            </a:r>
            <a:r>
              <a:rPr dirty="0" err="1"/>
              <a:t>sponsorluklar</a:t>
            </a:r>
            <a:r>
              <a:rPr dirty="0"/>
              <a:t> +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Misyon-yönelimli</a:t>
            </a:r>
            <a:r>
              <a:rPr dirty="0"/>
              <a:t> (</a:t>
            </a:r>
            <a:r>
              <a:rPr dirty="0" err="1"/>
              <a:t>çiftçiler</a:t>
            </a:r>
            <a:r>
              <a:rPr dirty="0"/>
              <a:t> +%30 </a:t>
            </a:r>
            <a:r>
              <a:rPr dirty="0" err="1"/>
              <a:t>kazanır</a:t>
            </a:r>
            <a:r>
              <a:rPr dirty="0"/>
              <a:t>, </a:t>
            </a:r>
            <a:r>
              <a:rPr dirty="0" err="1"/>
              <a:t>tarım</a:t>
            </a:r>
            <a:r>
              <a:rPr dirty="0"/>
              <a:t> </a:t>
            </a:r>
            <a:r>
              <a:rPr dirty="0" err="1"/>
              <a:t>sürdürülebilir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Finansman Talebi: 4.5M TL (~$1.5M USD)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Ürün &amp; Teknoloji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Platform MVP: 1.2M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Mobil uygulama: 150K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YZ/ML hattı: 100K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Uydu entegrasyonu: 25K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Altyapı: 80K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Operasyon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Ekip (5-6 mühendis, ops): 1.5M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Pazarlama &amp; kazanım: 0.8M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Altyapı &amp; barındırma: 0.5M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Buffer &amp; acil durum: 0.5M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Takım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lang="tr-TR" dirty="0"/>
              <a:t>Tanınmış bir Uzman</a:t>
            </a:r>
            <a:r>
              <a:rPr dirty="0"/>
              <a:t>— </a:t>
            </a:r>
            <a:r>
              <a:rPr dirty="0" err="1"/>
              <a:t>Lider</a:t>
            </a:r>
            <a:r>
              <a:rPr dirty="0"/>
              <a:t> agronomist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→ 4.7/5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derecelendirmesi</a:t>
            </a:r>
            <a:r>
              <a:rPr dirty="0"/>
              <a:t>, 5.000+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, day-1 </a:t>
            </a:r>
            <a:r>
              <a:rPr dirty="0" err="1"/>
              <a:t>kredibilite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[CEO/</a:t>
            </a:r>
            <a:r>
              <a:rPr dirty="0" err="1"/>
              <a:t>Kurucu</a:t>
            </a:r>
            <a:r>
              <a:rPr dirty="0"/>
              <a:t>] — Platform </a:t>
            </a:r>
            <a:r>
              <a:rPr dirty="0" err="1"/>
              <a:t>vizyon</a:t>
            </a:r>
            <a:r>
              <a:rPr dirty="0"/>
              <a:t>, </a:t>
            </a:r>
            <a:r>
              <a:rPr dirty="0" err="1"/>
              <a:t>teknoloji</a:t>
            </a:r>
            <a:r>
              <a:rPr dirty="0"/>
              <a:t> </a:t>
            </a:r>
            <a:r>
              <a:rPr dirty="0" err="1"/>
              <a:t>liderliği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[CTO] — YZ/ML, </a:t>
            </a:r>
            <a:r>
              <a:rPr dirty="0" err="1"/>
              <a:t>uydu</a:t>
            </a:r>
            <a:r>
              <a:rPr dirty="0"/>
              <a:t> </a:t>
            </a:r>
            <a:r>
              <a:rPr dirty="0" err="1"/>
              <a:t>verisi</a:t>
            </a:r>
            <a:r>
              <a:rPr dirty="0"/>
              <a:t>, blockchain </a:t>
            </a:r>
            <a:r>
              <a:rPr dirty="0" err="1"/>
              <a:t>uzmanlığı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[COO] — </a:t>
            </a:r>
            <a:r>
              <a:rPr dirty="0" err="1"/>
              <a:t>Tarımsal</a:t>
            </a:r>
            <a:r>
              <a:rPr dirty="0"/>
              <a:t> </a:t>
            </a:r>
            <a:r>
              <a:rPr dirty="0" err="1"/>
              <a:t>operasyonlar</a:t>
            </a:r>
            <a:r>
              <a:rPr dirty="0"/>
              <a:t>, </a:t>
            </a:r>
            <a:r>
              <a:rPr dirty="0" err="1"/>
              <a:t>çiftçi</a:t>
            </a:r>
            <a:r>
              <a:rPr dirty="0"/>
              <a:t> </a:t>
            </a:r>
            <a:r>
              <a:rPr dirty="0" err="1"/>
              <a:t>ilişkileri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lang="tr-TR" dirty="0"/>
              <a:t>İ</a:t>
            </a:r>
            <a:r>
              <a:rPr dirty="0" err="1"/>
              <a:t>şe</a:t>
            </a:r>
            <a:r>
              <a:rPr dirty="0"/>
              <a:t> alma: </a:t>
            </a:r>
            <a:r>
              <a:rPr dirty="0" err="1"/>
              <a:t>Kıdemli</a:t>
            </a:r>
            <a:r>
              <a:rPr dirty="0"/>
              <a:t> </a:t>
            </a:r>
            <a:r>
              <a:rPr dirty="0" err="1"/>
              <a:t>mühendisler</a:t>
            </a:r>
            <a:r>
              <a:rPr dirty="0"/>
              <a:t>, </a:t>
            </a:r>
            <a:r>
              <a:rPr dirty="0" err="1"/>
              <a:t>müşteri</a:t>
            </a:r>
            <a:r>
              <a:rPr dirty="0"/>
              <a:t> </a:t>
            </a:r>
            <a:r>
              <a:rPr dirty="0" err="1"/>
              <a:t>başarısı</a:t>
            </a:r>
            <a:r>
              <a:rPr dirty="0"/>
              <a:t>, </a:t>
            </a:r>
            <a:r>
              <a:rPr dirty="0" err="1"/>
              <a:t>ortaklıklar</a:t>
            </a:r>
            <a:r>
              <a:rPr dirty="0"/>
              <a:t> Ay 2'den </a:t>
            </a:r>
            <a:r>
              <a:rPr dirty="0" err="1"/>
              <a:t>itibaren</a:t>
            </a:r>
            <a:endParaRPr dirty="0"/>
          </a:p>
        </p:txBody>
      </p:sp>
    </p:spTree>
  </p:cSld>
  <p:clrMapOvr>
    <a:masterClrMapping/>
  </p:clrMapOvr>
  <p:transition spd="med" advTm="30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Devlet Veri Entegrasyonu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Mimari</a:t>
            </a:r>
            <a:r>
              <a:rPr dirty="0"/>
              <a:t> </a:t>
            </a:r>
            <a:r>
              <a:rPr dirty="0" err="1"/>
              <a:t>Devlet</a:t>
            </a:r>
            <a:r>
              <a:rPr dirty="0"/>
              <a:t> </a:t>
            </a:r>
            <a:r>
              <a:rPr dirty="0" err="1"/>
              <a:t>sistemleri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sorunsuz</a:t>
            </a:r>
            <a:r>
              <a:rPr dirty="0"/>
              <a:t> </a:t>
            </a:r>
            <a:r>
              <a:rPr dirty="0" err="1"/>
              <a:t>entegrasyon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tasarlandı</a:t>
            </a:r>
            <a:r>
              <a:rPr dirty="0"/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LPIS </a:t>
            </a:r>
            <a:r>
              <a:rPr dirty="0" err="1"/>
              <a:t>parsel</a:t>
            </a:r>
            <a:r>
              <a:rPr dirty="0"/>
              <a:t> </a:t>
            </a:r>
            <a:r>
              <a:rPr dirty="0" err="1"/>
              <a:t>defteri</a:t>
            </a:r>
            <a:r>
              <a:rPr dirty="0"/>
              <a:t> </a:t>
            </a:r>
            <a:r>
              <a:rPr dirty="0" err="1"/>
              <a:t>verisi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</a:t>
            </a:r>
            <a:r>
              <a:rPr dirty="0" err="1"/>
              <a:t>Uydu</a:t>
            </a:r>
            <a:r>
              <a:rPr dirty="0"/>
              <a:t> </a:t>
            </a:r>
            <a:r>
              <a:rPr dirty="0" err="1"/>
              <a:t>verisi</a:t>
            </a:r>
            <a:r>
              <a:rPr dirty="0"/>
              <a:t> (Copernicus, </a:t>
            </a:r>
            <a:r>
              <a:rPr dirty="0" err="1"/>
              <a:t>ücretsiz</a:t>
            </a:r>
            <a:r>
              <a:rPr dirty="0"/>
              <a:t> </a:t>
            </a:r>
            <a:r>
              <a:rPr dirty="0" err="1"/>
              <a:t>katman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TARSIM </a:t>
            </a:r>
            <a:r>
              <a:rPr dirty="0" err="1"/>
              <a:t>tarihsel</a:t>
            </a:r>
            <a:r>
              <a:rPr dirty="0"/>
              <a:t> </a:t>
            </a:r>
            <a:r>
              <a:rPr dirty="0" err="1"/>
              <a:t>verim</a:t>
            </a:r>
            <a:r>
              <a:rPr dirty="0"/>
              <a:t> </a:t>
            </a:r>
            <a:r>
              <a:rPr dirty="0" err="1"/>
              <a:t>verisi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  • TSMS </a:t>
            </a:r>
            <a:r>
              <a:rPr dirty="0" err="1"/>
              <a:t>hava</a:t>
            </a:r>
            <a:r>
              <a:rPr dirty="0"/>
              <a:t> </a:t>
            </a:r>
            <a:r>
              <a:rPr dirty="0" err="1"/>
              <a:t>verisi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AT = </a:t>
            </a:r>
            <a:r>
              <a:rPr dirty="0" err="1"/>
              <a:t>Devlet</a:t>
            </a:r>
            <a:r>
              <a:rPr dirty="0"/>
              <a:t> </a:t>
            </a:r>
            <a:r>
              <a:rPr dirty="0" err="1"/>
              <a:t>verilerini</a:t>
            </a:r>
            <a:r>
              <a:rPr dirty="0"/>
              <a:t> </a:t>
            </a:r>
            <a:r>
              <a:rPr dirty="0" err="1"/>
              <a:t>çiftçi</a:t>
            </a:r>
            <a:r>
              <a:rPr dirty="0"/>
              <a:t> </a:t>
            </a:r>
            <a:r>
              <a:rPr dirty="0" err="1"/>
              <a:t>sonuçlarına</a:t>
            </a:r>
            <a:r>
              <a:rPr dirty="0"/>
              <a:t> </a:t>
            </a:r>
            <a:r>
              <a:rPr dirty="0" err="1"/>
              <a:t>çeviren</a:t>
            </a:r>
            <a:r>
              <a:rPr dirty="0"/>
              <a:t> opera</a:t>
            </a:r>
            <a:r>
              <a:rPr lang="tr-TR" dirty="0" err="1"/>
              <a:t>syon</a:t>
            </a:r>
            <a:r>
              <a:rPr dirty="0"/>
              <a:t> </a:t>
            </a:r>
            <a:r>
              <a:rPr dirty="0" err="1"/>
              <a:t>katmanı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Farklılaştırma</a:t>
            </a:r>
            <a:r>
              <a:rPr dirty="0"/>
              <a:t>: </a:t>
            </a:r>
            <a:r>
              <a:rPr dirty="0" err="1"/>
              <a:t>Çevirme</a:t>
            </a:r>
            <a:r>
              <a:rPr dirty="0"/>
              <a:t>, </a:t>
            </a:r>
            <a:r>
              <a:rPr dirty="0" err="1"/>
              <a:t>uzmanlar</a:t>
            </a:r>
            <a:r>
              <a:rPr dirty="0"/>
              <a:t>, </a:t>
            </a:r>
            <a:r>
              <a:rPr dirty="0" err="1"/>
              <a:t>pazar</a:t>
            </a:r>
            <a:r>
              <a:rPr dirty="0"/>
              <a:t> </a:t>
            </a:r>
            <a:r>
              <a:rPr dirty="0" err="1"/>
              <a:t>erişimi</a:t>
            </a:r>
            <a:r>
              <a:rPr dirty="0"/>
              <a:t>, </a:t>
            </a:r>
            <a:r>
              <a:rPr dirty="0" err="1"/>
              <a:t>gelir</a:t>
            </a:r>
            <a:r>
              <a:rPr dirty="0"/>
              <a:t> </a:t>
            </a:r>
            <a:r>
              <a:rPr dirty="0" err="1"/>
              <a:t>modeli</a:t>
            </a:r>
            <a:endParaRPr dirty="0"/>
          </a:p>
        </p:txBody>
      </p:sp>
    </p:spTree>
  </p:cSld>
  <p:clrMapOvr>
    <a:masterClrMapping/>
  </p:clrMapOvr>
  <p:transition spd="med" advTm="3000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Risk Azaltma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Teknoloji Riski — Copernicus küresel olarak doğrulanmış; YZ v1 MVP'de test (20 çiftçi)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Pazar Riski — Dr. Koçak onayı ile MVP (güvenilir ses); teşvik-uyumlu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Rekabet Riski — 3 yıllık baş başla, uzman ağı savunulabilir, veri hendek (Y3+)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Düzenleme Riski — KVKK audit MVP'de; ISO 27001 Faz 1 tarafından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Mali Riski — Platform sponsorluklar olmadan kârlı (daha yavaş büyüme)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Sonraki Adımlar (Q3-Q4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Pilot </a:t>
            </a:r>
            <a:r>
              <a:rPr dirty="0" err="1"/>
              <a:t>başlatma</a:t>
            </a:r>
            <a:r>
              <a:rPr dirty="0"/>
              <a:t>: 20 </a:t>
            </a:r>
            <a:r>
              <a:rPr dirty="0" err="1"/>
              <a:t>çiftçi</a:t>
            </a:r>
            <a:r>
              <a:rPr dirty="0"/>
              <a:t> (</a:t>
            </a:r>
            <a:r>
              <a:rPr dirty="0" err="1"/>
              <a:t>kavram</a:t>
            </a:r>
            <a:r>
              <a:rPr dirty="0"/>
              <a:t> </a:t>
            </a:r>
            <a:r>
              <a:rPr dirty="0" err="1"/>
              <a:t>kanıtı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MVP </a:t>
            </a:r>
            <a:r>
              <a:rPr dirty="0" err="1"/>
              <a:t>modülleri</a:t>
            </a:r>
            <a:r>
              <a:rPr dirty="0"/>
              <a:t>: </a:t>
            </a:r>
            <a:r>
              <a:rPr dirty="0" err="1"/>
              <a:t>Agro</a:t>
            </a:r>
            <a:r>
              <a:rPr dirty="0"/>
              <a:t> + Monitor + </a:t>
            </a:r>
            <a:r>
              <a:rPr dirty="0" err="1"/>
              <a:t>Pazar-Erişim</a:t>
            </a:r>
            <a:r>
              <a:rPr dirty="0"/>
              <a:t> beta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</a:t>
            </a:r>
            <a:r>
              <a:rPr dirty="0" err="1"/>
              <a:t>Uzman</a:t>
            </a:r>
            <a:r>
              <a:rPr dirty="0"/>
              <a:t> </a:t>
            </a:r>
            <a:r>
              <a:rPr dirty="0" err="1"/>
              <a:t>ağı</a:t>
            </a:r>
            <a:r>
              <a:rPr dirty="0"/>
              <a:t>: 30+ agronomist </a:t>
            </a:r>
            <a:r>
              <a:rPr lang="tr-TR" dirty="0"/>
              <a:t>ekibe katılan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/>
              <a:t>✓ B2B pilot: 1-2 </a:t>
            </a:r>
            <a:r>
              <a:rPr dirty="0" err="1"/>
              <a:t>gıda</a:t>
            </a:r>
            <a:r>
              <a:rPr dirty="0"/>
              <a:t> </a:t>
            </a:r>
            <a:r>
              <a:rPr dirty="0" err="1"/>
              <a:t>şirketi</a:t>
            </a:r>
            <a:r>
              <a:rPr dirty="0"/>
              <a:t> test </a:t>
            </a:r>
            <a:r>
              <a:rPr dirty="0" err="1"/>
              <a:t>ediyor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rPr dirty="0" err="1"/>
              <a:t>Başarı</a:t>
            </a:r>
            <a:r>
              <a:rPr dirty="0"/>
              <a:t> </a:t>
            </a:r>
            <a:r>
              <a:rPr dirty="0" err="1"/>
              <a:t>metrikleri</a:t>
            </a:r>
            <a:r>
              <a:rPr dirty="0"/>
              <a:t>: 20+ </a:t>
            </a:r>
            <a:r>
              <a:rPr dirty="0" err="1"/>
              <a:t>aktif</a:t>
            </a:r>
            <a:r>
              <a:rPr dirty="0"/>
              <a:t> </a:t>
            </a:r>
            <a:r>
              <a:rPr dirty="0" err="1"/>
              <a:t>kullanıcı</a:t>
            </a:r>
            <a:r>
              <a:rPr dirty="0"/>
              <a:t>, &lt;%10 churn, +%15 </a:t>
            </a:r>
            <a:r>
              <a:rPr dirty="0" err="1"/>
              <a:t>verim</a:t>
            </a:r>
            <a:r>
              <a:rPr dirty="0"/>
              <a:t>, 3 </a:t>
            </a:r>
            <a:r>
              <a:rPr dirty="0" err="1"/>
              <a:t>şirket</a:t>
            </a:r>
            <a:r>
              <a:rPr dirty="0"/>
              <a:t> </a:t>
            </a:r>
            <a:r>
              <a:rPr dirty="0" err="1"/>
              <a:t>ilgi</a:t>
            </a:r>
            <a:endParaRPr dirty="0"/>
          </a:p>
        </p:txBody>
      </p:sp>
    </p:spTree>
  </p:cSld>
  <p:clrMapOvr>
    <a:masterClrMapping/>
  </p:clrMapOvr>
  <p:transition spd="med" advTm="30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Talep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4.5M TL Seed Sermayesi | Türkiye'nin Tarımsal Zeka Devrimi</a:t>
            </a:r>
          </a:p>
        </p:txBody>
      </p:sp>
    </p:spTree>
  </p:cSld>
  <p:clrMapOvr>
    <a:masterClrMapping/>
  </p:clrMapOvr>
  <p:transition spd="med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1248</Words>
  <Application>Microsoft Office PowerPoint</Application>
  <PresentationFormat>Ekran Gösterisi (4:3)</PresentationFormat>
  <Paragraphs>150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Metin Güven</cp:lastModifiedBy>
  <cp:revision>5</cp:revision>
  <dcterms:created xsi:type="dcterms:W3CDTF">2013-01-27T09:14:16Z</dcterms:created>
  <dcterms:modified xsi:type="dcterms:W3CDTF">2026-08-08T00:24:57Z</dcterms:modified>
  <cp:category/>
</cp:coreProperties>
</file>