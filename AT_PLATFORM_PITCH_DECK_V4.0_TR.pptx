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5400"/>
              <a:t>AKILLI TARIM PLATFORMU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rPr sz="2800"/>
              <a:t>Türkiye'nin Tarımsal Dijital Dönüşümü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Pazar Fırsatı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• Türkiye'de 3 milyon çiftlik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• 23 milyon hektar yönetim altında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• ~9 milyon kırsal nüfus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• 60-80 Milyar TL yıllık üretim değeri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• TAM: 4.5-5.75 Milyar TL (çiftçiler 500 TL/yıl harcamaya istekli)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Dört Kritik Boşluk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Boşluk 1: Üretim Planlama — %85 çiftçi sezgisel çalışır (±%25 verim varyasyonu)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Boşluk 2: Uzman Erişimi — &lt;%10 ücretli danışmanlık kullanır (coğrafi izolasyon)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Boşluk 3: Pazar Şeffaflığı — Çiftçiden tüketiciye görünürlük yok (meta fiyatlandırması)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Boşluk 4: B2B Verimsizlik — Çiftçi gelirinin %40'ı toptancı aracılara kayboluyor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Çiftçi Başına Mali Etki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Mevcut: Verim varyasyonu ±%25, Maliyet opaklığı, %12.5 gelir kaybı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AT Platformu ile: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→ +%20 verim iyileştirmesi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→ -%15 maliyet azaltması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→ +%20-30 şeffaflık primleri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→ Tahmini çiftçi gelir artışı: +%15-20/sezon (~150K TL)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Çözüm: 5-Katmanlı Mimari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Katman 1: Çiftçi Portalı (Web, Mobil, Ses) — Çevrimdışı-uyumlu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Katman 2: Altı Entegre Modül (FMIS) — Üretim, İzleme, Hayvancılık, Ekipman, Yardım, Pazar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Katman 3: Hizmet Entegrasyonu — Uzman ağı, ödemeler, devlet sistemleri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Katman 4: Veri Katmanı — Bulut veritabanları, API'ler, analitikler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Katman 5: BİT Omurgası — İnformasyon (uydu, YZ) + İletişim (mobil, SMS, çevrimdışı)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Çok-Kaynaklı Veri Temini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Platform çiftçilerin doğal kullandığı veriyi kabul eder: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Ses (STT + NLP) — "Kuzey tarlayı yarın sulamaya başla"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Görüntü (OCR + CV) — Fatura → Harcama; Hastalık → YZ teşhis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Video (Eylem Tanıma) — 30 saniye tarla gezintisi → Ürün durumu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SMS/WhatsApp — Komut yürütmesi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Sensörler (IoT + Uydu) — Otomatik besle, manuel giriş yok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AR (Artırılmış Gerçeklik) — Ürünü Telefona göster → Teşhis &amp; Tedavi overlay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Altı Ana Modül (FMIS)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FMIS.Agro — 90 günlük üretim planlama, maliyet muhasebesi, günlük disiplin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FMIS.Monitor — Uydu + IoT ürün sağlığı, YZ hastalık tespiti (72-saat erken uyarı)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FMIS.Hayvancılık — Giyilebilir sensörler, YZ veteriner teşhis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FMIS.Makina-Ekipman — P2P makine kiralama pazarı (3 kademeli seçenek)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FMIS.Yardım Masası — 24/7 YZ chatbot + uzman yükseltme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FMIS.Pazar-Erişim — B2B doğrudan satın alma + B2C QR kod ile izlenebilirlik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Pazar Konumlandırması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Türkiye'de ENTEGRE tarım-teknolojisinde rakip YOK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Öncü: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Üretim planlama + uzman ağı + pazar erişimi (entegre)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Devlet veri entegrasyonu için tasarlanmış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Yerel uzman ağı (5.000+ agronomist ekosistemi)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"Kendi yağı ile kavrulan" iş modeli (VC / Sponsordan bağımsız)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rPr sz="3600"/>
              <a:t>Gelir Modeli (5 Akış + Sponsorluklar)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rPr sz="1800"/>
              <a:t>Platform Geliri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Premium abonelik: 500 TL/ay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Uzman pazarı: %10-15 komis</a:t>
            </a:r>
            <a:endParaRPr dirty="0"/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B2B satın alma: %5 komis</a:t>
            </a:r>
            <a:endParaRPr dirty="0"/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B2C izlenebilirlik: %8 komis</a:t>
            </a:r>
            <a:endParaRPr dirty="0"/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Makina-Ekipman P2P: %15 komis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rPr sz="1800"/>
              <a:t>Sponsorluk Geliri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Bankalar (ödeme entegrasyonu)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Gıda şirketleri (satın alma erişimi)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Girdi tedarikçileri (pazar varlığı)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Sigorta (prim hedefleme)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Y1: 850K → Y3: 14.1M TL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Mali Projeksiyonlar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Yıl 1: 2.7M TL gelir | Ay 9 başa-baş</a:t>
            </a:r>
            <a:endParaRPr dirty="0">
              <a:solidFill>
                <a:srgbClr val="1F2937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Yıl 3: 70.38M TL gelir | %91 işletme marjı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Yıl 5: 113M TL gelir | %89 işletme marjı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Birim Ekonomisi: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CAC: 1.500 TL (organik) → 20 TL (sponsorluk-yardımlı) = 75x iyileştirme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LTV: 59K TL | Geri ödeme: 3 ay | LTV/CAC: 40:1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rPr sz="3600"/>
              <a:t>Uygulama Yol Haritası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rPr sz="1800"/>
              <a:t>MVP (M0-6)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• 20-50 pilot çiftçi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Temel modüller: Agro + Monitor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B2B pilot başlatma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30-50 uzman onboarding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Yatırım: ~3M 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rPr sz="1800"/>
              <a:t>Faz 1 (M6-12)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• 100-300 çiftçiye ölçekle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Uzman pazarı başlatma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Hayvancılık modülü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• 3+ gıda şirketi ortaklığı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Series A: 2.5-3.5M TL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Uzman Kütüphane Verisi Geliştirme (Y1-Y5)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Yıl 1-2: YZ Temeli — Uydu + hava verisi (%80 bölgesel doğruluk)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Yıl 2-3: Kitlesel Katılım — 150K+ uzman değerlendirmesi (parsel-düzey)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Yıl 3-5: Sahici Zeka — ±%5 doğruluk, B2B veri lisanslama (15-20M TL/yıl)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Sonuç: Maschinenring'in 60 yıllık hendek 3-5 yılda inşa edin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Savunulabilir rekabetçi avantaj = Rakip giriş bariyeri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Birim Ekonomisi &amp; Marjlar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Brüt Marj: %80-85 (SaaS + komisyon modeli)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İşletme Marjı İlerleme: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Yıl 1: ~%8 (yatırım aşaması)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Yıl 3: %91 (ölçek + sponsorluk kaldıraç)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Yıl 5: %89 (olgun platform)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Churn Hedefi: &lt;%5 aylık (uzman ağından yüksek katılım)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Neden Kazanırız ?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 dirty="0"/>
              <a:t>✓ </a:t>
            </a:r>
            <a:r>
              <a:rPr sz="1800" dirty="0" err="1"/>
              <a:t>Entegre</a:t>
            </a:r>
            <a:r>
              <a:rPr sz="1800" dirty="0"/>
              <a:t> </a:t>
            </a:r>
            <a:r>
              <a:rPr sz="1800" dirty="0" err="1"/>
              <a:t>tarım-teknolojisinde</a:t>
            </a:r>
            <a:r>
              <a:rPr sz="1800" dirty="0"/>
              <a:t> </a:t>
            </a:r>
            <a:r>
              <a:rPr sz="1800" dirty="0" err="1"/>
              <a:t>öncü</a:t>
            </a:r>
            <a:r>
              <a:rPr sz="1800" dirty="0"/>
              <a:t> (</a:t>
            </a:r>
            <a:r>
              <a:rPr sz="1800" dirty="0" err="1"/>
              <a:t>Türkiye’de</a:t>
            </a:r>
            <a:r>
              <a:rPr sz="1800" dirty="0"/>
              <a:t> raki</a:t>
            </a:r>
            <a:r>
              <a:rPr lang="tr-TR" sz="1800" dirty="0"/>
              <a:t>p</a:t>
            </a:r>
            <a:r>
              <a:rPr sz="1800" dirty="0"/>
              <a:t> yok)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 dirty="0"/>
              <a:t>✓ </a:t>
            </a:r>
            <a:r>
              <a:rPr sz="1800" dirty="0" err="1"/>
              <a:t>Savunulabilir</a:t>
            </a:r>
            <a:r>
              <a:rPr sz="1800" dirty="0"/>
              <a:t> </a:t>
            </a:r>
            <a:r>
              <a:rPr sz="1800" dirty="0" err="1"/>
              <a:t>veri</a:t>
            </a:r>
            <a:r>
              <a:rPr sz="1800" dirty="0"/>
              <a:t> </a:t>
            </a:r>
            <a:r>
              <a:rPr sz="1800" dirty="0" err="1"/>
              <a:t>hendekleri</a:t>
            </a:r>
            <a:r>
              <a:rPr sz="1800" dirty="0"/>
              <a:t> (Y3+ ±%5 </a:t>
            </a:r>
            <a:r>
              <a:rPr sz="1800" dirty="0" err="1"/>
              <a:t>doğruluk</a:t>
            </a:r>
            <a:r>
              <a:rPr sz="1800" dirty="0"/>
              <a:t> </a:t>
            </a:r>
            <a:r>
              <a:rPr sz="1800" dirty="0" err="1"/>
              <a:t>tahminleri</a:t>
            </a:r>
            <a:r>
              <a:rPr sz="1800"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 dirty="0"/>
              <a:t>✓ </a:t>
            </a:r>
            <a:r>
              <a:rPr sz="1800" dirty="0" err="1"/>
              <a:t>Uzman</a:t>
            </a:r>
            <a:r>
              <a:rPr sz="1800" dirty="0"/>
              <a:t> </a:t>
            </a:r>
            <a:r>
              <a:rPr sz="1800" dirty="0" err="1"/>
              <a:t>ağı</a:t>
            </a:r>
            <a:r>
              <a:rPr sz="1800" dirty="0"/>
              <a:t> (</a:t>
            </a:r>
            <a:r>
              <a:rPr sz="1800" dirty="0" err="1"/>
              <a:t>İtibarı</a:t>
            </a:r>
            <a:r>
              <a:rPr sz="1800" dirty="0"/>
              <a:t> </a:t>
            </a:r>
            <a:r>
              <a:rPr sz="1800" dirty="0" err="1"/>
              <a:t>ve</a:t>
            </a:r>
            <a:r>
              <a:rPr sz="1800" dirty="0"/>
              <a:t> </a:t>
            </a:r>
            <a:r>
              <a:rPr sz="1800" dirty="0" err="1"/>
              <a:t>tanınırlığı</a:t>
            </a:r>
            <a:r>
              <a:rPr sz="1800" dirty="0"/>
              <a:t> </a:t>
            </a:r>
            <a:r>
              <a:rPr sz="1800" dirty="0" err="1"/>
              <a:t>yüksek</a:t>
            </a:r>
            <a:r>
              <a:rPr sz="1800" dirty="0"/>
              <a:t> </a:t>
            </a:r>
            <a:r>
              <a:rPr sz="1800" dirty="0" err="1"/>
              <a:t>bir</a:t>
            </a:r>
            <a:r>
              <a:rPr sz="1800" dirty="0"/>
              <a:t> </a:t>
            </a:r>
            <a:r>
              <a:rPr sz="1800" dirty="0" err="1"/>
              <a:t>uzman</a:t>
            </a:r>
            <a:r>
              <a:rPr sz="1800" dirty="0"/>
              <a:t>, day-1 </a:t>
            </a:r>
            <a:r>
              <a:rPr sz="1800" dirty="0" err="1"/>
              <a:t>güven</a:t>
            </a:r>
            <a:r>
              <a:rPr sz="1800"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 dirty="0"/>
              <a:t>✓ </a:t>
            </a:r>
            <a:r>
              <a:rPr sz="1800" dirty="0" err="1"/>
              <a:t>İstisnaî</a:t>
            </a:r>
            <a:r>
              <a:rPr sz="1800" dirty="0"/>
              <a:t> </a:t>
            </a:r>
            <a:r>
              <a:rPr sz="1800" dirty="0" err="1"/>
              <a:t>birim</a:t>
            </a:r>
            <a:r>
              <a:rPr sz="1800" dirty="0"/>
              <a:t> </a:t>
            </a:r>
            <a:r>
              <a:rPr sz="1800" dirty="0" err="1"/>
              <a:t>ekonomisi</a:t>
            </a:r>
            <a:r>
              <a:rPr sz="1800" dirty="0"/>
              <a:t> (CAC 20 TL </a:t>
            </a:r>
            <a:r>
              <a:rPr sz="1800" dirty="0" err="1"/>
              <a:t>sponsorluklarla</a:t>
            </a:r>
            <a:r>
              <a:rPr sz="1800"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 dirty="0"/>
              <a:t>✓ </a:t>
            </a:r>
            <a:r>
              <a:rPr sz="1800" dirty="0" err="1"/>
              <a:t>Sürdürülebilir</a:t>
            </a:r>
            <a:r>
              <a:rPr sz="1800" dirty="0"/>
              <a:t> </a:t>
            </a:r>
            <a:r>
              <a:rPr sz="1800" dirty="0" err="1"/>
              <a:t>finansman</a:t>
            </a:r>
            <a:r>
              <a:rPr sz="1800" dirty="0"/>
              <a:t> (VC-</a:t>
            </a:r>
            <a:r>
              <a:rPr sz="1800" dirty="0" err="1"/>
              <a:t>bağımlı</a:t>
            </a:r>
            <a:r>
              <a:rPr sz="1800" dirty="0"/>
              <a:t> </a:t>
            </a:r>
            <a:r>
              <a:rPr sz="1800" dirty="0" err="1"/>
              <a:t>değil</a:t>
            </a:r>
            <a:r>
              <a:rPr sz="1800" dirty="0"/>
              <a:t>; </a:t>
            </a:r>
            <a:r>
              <a:rPr sz="1800" dirty="0" err="1"/>
              <a:t>sponsorluklar</a:t>
            </a:r>
            <a:r>
              <a:rPr sz="1800" dirty="0"/>
              <a:t> + platform)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 dirty="0"/>
              <a:t>✓ </a:t>
            </a:r>
            <a:r>
              <a:rPr sz="1800" dirty="0" err="1"/>
              <a:t>Misyon-yönelimli</a:t>
            </a:r>
            <a:r>
              <a:rPr sz="1800" dirty="0"/>
              <a:t> (</a:t>
            </a:r>
            <a:r>
              <a:rPr sz="1800" dirty="0" err="1"/>
              <a:t>çiftçiler</a:t>
            </a:r>
            <a:r>
              <a:rPr sz="1800" dirty="0"/>
              <a:t> +%30 </a:t>
            </a:r>
            <a:r>
              <a:rPr sz="1800" dirty="0" err="1"/>
              <a:t>kazanır</a:t>
            </a:r>
            <a:r>
              <a:rPr sz="1800" dirty="0"/>
              <a:t>, </a:t>
            </a:r>
            <a:r>
              <a:rPr sz="1800" dirty="0" err="1"/>
              <a:t>tarım</a:t>
            </a:r>
            <a:r>
              <a:rPr sz="1800" dirty="0"/>
              <a:t> </a:t>
            </a:r>
            <a:r>
              <a:rPr sz="1800" dirty="0" err="1"/>
              <a:t>sürdürülebilir</a:t>
            </a:r>
            <a:r>
              <a:rPr sz="1800" dirty="0"/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rPr sz="3600"/>
              <a:t>Finansman Talebi: 4.5M TL (~$1.5M USD)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rPr sz="1800"/>
              <a:t>Ürün &amp; Teknoloji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Platform MVP: 1.2M TL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Mobil uygulama: 150K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YZ/ML hattı: 100K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Uydu entegrasyonu: 25K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Altyapı: 80K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rPr sz="1800"/>
              <a:t>Operasyon &amp; 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Ekip (5-6 mühendis, ops): 1.5M TL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Pazarlama &amp; kazanım: 0.8M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Altyapı &amp; barındırma: 0.5M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rPr sz="1800"/>
              <a:t>Buffer &amp; acil durum: 0.5M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Takım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lang="tr-TR" sz="1800" dirty="0"/>
              <a:t>İtibarlı &amp;  Alanında isim yapmış bir Uzman</a:t>
            </a:r>
            <a:r>
              <a:rPr sz="1800" dirty="0"/>
              <a:t>— </a:t>
            </a:r>
            <a:r>
              <a:rPr sz="1800" dirty="0" err="1"/>
              <a:t>Lider</a:t>
            </a:r>
            <a:r>
              <a:rPr sz="1800" dirty="0"/>
              <a:t> agronomist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 dirty="0"/>
              <a:t>  → 4.7/5 </a:t>
            </a:r>
            <a:r>
              <a:rPr sz="1800" dirty="0" err="1"/>
              <a:t>uzman</a:t>
            </a:r>
            <a:r>
              <a:rPr sz="1800" dirty="0"/>
              <a:t> </a:t>
            </a:r>
            <a:r>
              <a:rPr sz="1800" dirty="0" err="1"/>
              <a:t>derecelendirmesi</a:t>
            </a:r>
            <a:r>
              <a:rPr sz="1800" dirty="0"/>
              <a:t>, 5.000+ </a:t>
            </a:r>
            <a:r>
              <a:rPr sz="1800" dirty="0" err="1"/>
              <a:t>uzman</a:t>
            </a:r>
            <a:r>
              <a:rPr sz="1800" dirty="0"/>
              <a:t> </a:t>
            </a:r>
            <a:r>
              <a:rPr sz="1800" dirty="0" err="1"/>
              <a:t>ağı</a:t>
            </a:r>
            <a:r>
              <a:rPr sz="1800" dirty="0"/>
              <a:t>, day-1 </a:t>
            </a:r>
            <a:r>
              <a:rPr sz="1800" dirty="0" err="1"/>
              <a:t>kredibilite</a:t>
            </a:r>
            <a:endParaRPr sz="1800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 dirty="0"/>
              <a:t>[CEO/</a:t>
            </a:r>
            <a:r>
              <a:rPr sz="1800" dirty="0" err="1"/>
              <a:t>Kurucu</a:t>
            </a:r>
            <a:r>
              <a:rPr sz="1800" dirty="0"/>
              <a:t>] — Platform </a:t>
            </a:r>
            <a:r>
              <a:rPr sz="1800" dirty="0" err="1"/>
              <a:t>vizyon</a:t>
            </a:r>
            <a:r>
              <a:rPr sz="1800" dirty="0"/>
              <a:t>, </a:t>
            </a:r>
            <a:r>
              <a:rPr sz="1800" dirty="0" err="1"/>
              <a:t>teknoloji</a:t>
            </a:r>
            <a:r>
              <a:rPr sz="1800" dirty="0"/>
              <a:t> </a:t>
            </a:r>
            <a:r>
              <a:rPr sz="1800" dirty="0" err="1"/>
              <a:t>liderliği</a:t>
            </a:r>
            <a:endParaRPr sz="1800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 dirty="0"/>
              <a:t>[CTO] — YZ/ML, </a:t>
            </a:r>
            <a:r>
              <a:rPr sz="1800" dirty="0" err="1"/>
              <a:t>uydu</a:t>
            </a:r>
            <a:r>
              <a:rPr sz="1800" dirty="0"/>
              <a:t> </a:t>
            </a:r>
            <a:r>
              <a:rPr sz="1800" dirty="0" err="1"/>
              <a:t>verisi</a:t>
            </a:r>
            <a:r>
              <a:rPr sz="1800" dirty="0"/>
              <a:t>, blockchain </a:t>
            </a:r>
            <a:r>
              <a:rPr sz="1800" dirty="0" err="1"/>
              <a:t>uzmanlığı</a:t>
            </a:r>
            <a:endParaRPr sz="1800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 dirty="0"/>
              <a:t>[COO] — </a:t>
            </a:r>
            <a:r>
              <a:rPr sz="1800" dirty="0" err="1"/>
              <a:t>Tarımsal</a:t>
            </a:r>
            <a:r>
              <a:rPr sz="1800" dirty="0"/>
              <a:t> </a:t>
            </a:r>
            <a:r>
              <a:rPr sz="1800" dirty="0" err="1"/>
              <a:t>operasyonlar</a:t>
            </a:r>
            <a:r>
              <a:rPr sz="1800" dirty="0"/>
              <a:t>, </a:t>
            </a:r>
            <a:r>
              <a:rPr sz="1800" dirty="0" err="1"/>
              <a:t>çiftçi</a:t>
            </a:r>
            <a:r>
              <a:rPr sz="1800" dirty="0"/>
              <a:t> </a:t>
            </a:r>
            <a:r>
              <a:rPr sz="1800" dirty="0" err="1"/>
              <a:t>ilişkileri</a:t>
            </a:r>
            <a:endParaRPr sz="1800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 dirty="0" err="1"/>
              <a:t>Işe</a:t>
            </a:r>
            <a:r>
              <a:rPr sz="1800" dirty="0"/>
              <a:t> alma: </a:t>
            </a:r>
            <a:r>
              <a:rPr sz="1800" dirty="0" err="1"/>
              <a:t>Kıdemli</a:t>
            </a:r>
            <a:r>
              <a:rPr sz="1800" dirty="0"/>
              <a:t> </a:t>
            </a:r>
            <a:r>
              <a:rPr sz="1800" dirty="0" err="1"/>
              <a:t>mühendisler</a:t>
            </a:r>
            <a:r>
              <a:rPr sz="1800" dirty="0"/>
              <a:t>, </a:t>
            </a:r>
            <a:r>
              <a:rPr sz="1800" dirty="0" err="1"/>
              <a:t>müşteri</a:t>
            </a:r>
            <a:r>
              <a:rPr sz="1800" dirty="0"/>
              <a:t> </a:t>
            </a:r>
            <a:r>
              <a:rPr sz="1800" dirty="0" err="1"/>
              <a:t>başarısı</a:t>
            </a:r>
            <a:r>
              <a:rPr sz="1800" dirty="0"/>
              <a:t>, </a:t>
            </a:r>
            <a:r>
              <a:rPr sz="1800" dirty="0" err="1"/>
              <a:t>ortaklıklar</a:t>
            </a:r>
            <a:r>
              <a:rPr sz="1800" dirty="0"/>
              <a:t> Ay 2'den </a:t>
            </a:r>
            <a:r>
              <a:rPr sz="1800" dirty="0" err="1"/>
              <a:t>itibaren</a:t>
            </a:r>
            <a:endParaRPr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Devlet Veri Entegrasyonu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Mimari Devlet sistemleri ile sorunsuz entegrasyon için tasarlandı: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LPIS parsel defteri verisi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Uydu verisi (Copernicus, ücretsiz katman)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TARSIM tarihsel verim verisi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  • TSMS hava verisi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AT = Devlet verilerini çiftçi sonuçlarına çeviren operations katmanı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Farklılaştırma: Çevirme, uzmanlar, pazar erişimi, gelir modeli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Risk Azaltma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Teknoloji Riski — Copernicus küresel olarak doğrulanmış; YZ v1 MVP'de test (20 çiftçi)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Pazar Riski — Dr. Koçak onayı ile MVP (güvenilir ses); teşvik-uyumlu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Rekabet Riski — 3 yıllık baş başla, uzman ağı savunulabilir, veri hendek (Y3+)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Düzenleme Riski — KVKK audit MVP'de; ISO 27001 Faz 1 tarafından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Mali Riski — Platform sponsorluklar olmadan kârlı (daha yavaş büyüme)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Sonraki Adımlar (Q3-Q4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sz="1800"/>
              <a:t>✓ Pilot başlatma: 20 çiftçi (kavram kanıtı)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✓ MVP modülleri: Agro + Monitor + Pazar-Erişim beta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✓ Uzman ağı: 30+ agronomist onboarded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✓ B2B pilot: 1-2 gıda şirketi test ediyor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sz="1800"/>
              <a:t>Başarı metrikleri: 20+ aktif kullanıcı, &lt;%10 churn, +%15 verim, 3 şirket ilgi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3600"/>
              <a:t>Talep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rPr sz="1800"/>
              <a:t>4.5M TL Seed Sermayesi | Türkiye'nin Tarımsal Zeka Devrimi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1243</Words>
  <Application>Microsoft Office PowerPoint</Application>
  <PresentationFormat>Ekran Gösterisi (4:3)</PresentationFormat>
  <Paragraphs>150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Metin Güven</cp:lastModifiedBy>
  <cp:revision>12</cp:revision>
  <dcterms:created xsi:type="dcterms:W3CDTF">2013-01-27T09:14:16Z</dcterms:created>
  <dcterms:modified xsi:type="dcterms:W3CDTF">2026-08-08T09:58:56Z</dcterms:modified>
  <cp:category/>
</cp:coreProperties>
</file>