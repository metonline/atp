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INTELLIGENT AGRICULTURE</a:t>
            </a:r>
          </a:p>
          <a:p>
            <a:pPr>
              <a:defRPr sz="1800" i="1"/>
            </a:pPr>
            <a:r>
              <a:t>Version 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Turkey's Agricultural Digital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• 3 million farms in Turkey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23 million hectares under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~9 million rural population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60-80 Billion TL annual production value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TAM: 4.5-5.75 Billion TL (farmers willing to spend 500 TL/year)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Four Critical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Gap 1: Production Planning — 85% of farmers use intuition (±25% yield variance)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Gap 2: Expert Access — &lt;10% use paid advisory (geographically isolated)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Gap 3: Market Transparency — No farm-to-table visibility (commodity pricing)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Gap 4: B2B Inefficiency — 40% farmer income lost to wholesaler middlemen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Financial Impact Per Farmer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Current: Yield variance ±25%, Cost opacity, 12.5% income loss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With IA Platform: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+20% yield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-15% cost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+20-30% premium via transparency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Estimated farmer income gain: +15-20% per season (~150K 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The Solution: 5-Layer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Layer 1: Farmer Portal (Web, Mobile, Voice) — Offline-capable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2: Six Integrated Modules (FMIS) — Production, Monitor, Livestock, Equipment, Helpdesk, Market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3: Service Integration — Expert network, payments, state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4: Data Layer — Cloud databases, APIs,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5: ICT Backbone — Information (satellite, AI) + Communication (mobile, SMS, offline)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Multi-Modal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Platform accepts data naturally farmers already use: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Voice (STT + NLP) — "Irrigate field tomorrow"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Image (OCR + CV) — Invoice photo → Expense; Disease photo → AI diagnosis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Video (Action Recognition) — 30-sec field walkthrough → Crop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SMS/WhatsApp — Command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Sensors (IoT + Satellite) — Auto-feed, no manual entry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AR (Real-time Diagnosis) — Point phone at crop → Treatment overlay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Six Core Modules (FMIS)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FMIS.Agro — 90-day production planning, cost accounting, daily discipline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FMIS.Monitor — Satellite + IoT crop health, AI disease detection (72-hr early warning)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FMIS.Livestock — Wearable sensors, AI veterinary diagnosis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FMIS.Equipment — P2P machinery rental marketplace (3 tiered options)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FMIS.Helpdesk — 24/7 AI chatbot + expert escalation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FMIS.Market-Access — B2B direct sourcing + B2C QR traceability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Market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rPr dirty="0"/>
              <a:t>NO integrated ag-tech competitor in Turkey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First-mover with: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Production planning + expert network + market access (integrated)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Designed for seamless State data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Local expert network (Dr. </a:t>
            </a:r>
            <a:r>
              <a:rPr dirty="0" err="1"/>
              <a:t>Koçak</a:t>
            </a:r>
            <a:r>
              <a:rPr dirty="0"/>
              <a:t>, 5,000+ agronomist ecosystem)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lang="tr-TR" dirty="0"/>
              <a:t>"Self-</a:t>
            </a:r>
            <a:r>
              <a:rPr lang="tr-TR" dirty="0" err="1"/>
              <a:t>sustaning</a:t>
            </a:r>
            <a:r>
              <a:rPr lang="tr-TR" dirty="0"/>
              <a:t>"</a:t>
            </a:r>
            <a:r>
              <a:rPr dirty="0"/>
              <a:t> model (VC</a:t>
            </a:r>
            <a:r>
              <a:rPr lang="tr-TR" dirty="0"/>
              <a:t> / Sponsor - in</a:t>
            </a:r>
            <a:r>
              <a:rPr dirty="0"/>
              <a:t>dependent)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Revenue Model (5 Streams + Sponsorships)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Platform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• Premium subscription: 500 TL/month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Expert marketplace: 10-15%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sourcing: 5%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B2C traceability: 8%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Equipment P2P: 15%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Sponsorship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• Banks (payment integration)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Food companies (sourcing access)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Input suppliers (marketplace presence)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Insurance (premium targeting)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Y1: 850K → Y3: 14.1M 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Year 1: 2.7M TL revenue | Break-even Month 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3: 70.38M TL revenue | 91% operating margin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5: 113M TL revenue | 89% operating margin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Unit Economics: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CAC: 1,500 TL (organic) → 20 TL (sponsorship-aided) = 75x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LTV: 59K TL | Payback: 3 months | LTV/CAC: 40:1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MVP (M0-6)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• 20-50 pilot farmers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Core modules: Agro + Monitor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pilot launch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30-50 expert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Investment: ~3M 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Phase 1 (M6-12)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• Scale to 100-300 farmers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Expert marketplace launch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Livestock module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3+ food company partnerships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Series A: 2.5-3.5M TL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Data Accumulation Strategy (Y1-Y5)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Year 1-2: AI Baseline — Satellite + weather data (80% regional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2-3: Crowdsourced — 150K+ expert assessments (parcel-level)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3-5: Proprietary Intelligence — ±5% accuracy, B2B data licensing (15-20M TL/year)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Result: Build Maschinenring's 60-year moat in 3-5 years via digitization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Defensible competitive advantage = racketeer entry barrier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Unit Economics &amp; Margins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Gross Margin: 80-85% (SaaS + commission model)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Operating Margin Progression: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Year 1: ~8% (investment phase)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Year 3: 91% (scale + sponsorship leverage)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Year 5: 89% (mature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Churn Target: &lt;5% monthly (high engagement from expert network)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✓ First-mover in integrated ag-tech (no Turkish competitor)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Defensible data moat (Y3+ ±5% accuracy predictions)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Expert network (Dr. Koçak credibility, day-1 trust)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Exceptional unit economics (CAC 20 TL with sponsorships)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Sustainable financing (not VC / Sponsor independent; sponsorships + platform revenue)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Mission-driven (farmers earn +30%, agriculture sustainable)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Funding Ask: 4.5M TL (~$1.5M USD)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Platform MVP: 1.2M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Mobile app: 150K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AI/ML pipeline: 100K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Satellite integration: 25K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Infrastructure: 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Operations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3600">
                <a:solidFill>
                  <a:srgbClr val="1F2937"/>
                </a:solidFill>
              </a:defRPr>
            </a:pPr>
            <a:r>
              <a:t>Team (5-6 engineers, ops): 1.5M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Marketing &amp; acquisition: 0.8M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Infrastructure &amp; hosting: 0.5M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Buffer &amp; contingency: 0.5M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Leading Expert — Leading agronomist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4.7/5 expert rating, 5,000+ expert network, day-1 credibility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[CEO/Founder] — Platform vision, technology leadership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[CTO] — AI/ML, satellite data, blockchain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[COO] — Agricultural operations, farmer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Hiring: Senior engineers, customer success, partnerships by Month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State 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Architecture designed for seamless State system integration: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LPIS field registry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Satellite data (Copernicus, free tier)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TARSIM historical yield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TSMS weather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IA = Operations layer that transforms State data into farmer outcomes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Differentiation: Translation, experts, market access, revenue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Risk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Technology Risk — Copernicus validated globally; AI model v1 tested in MVP (20 farms)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Market Risk — MVP with Dr. Koçak endorsement (trusted voice); incentive-aligned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Competitive Risk — 3-year head start, expert network defensible, data moat (Y3+)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Regulatory Risk — KVKK audit in MVP; ISO 27001 by Phase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Financial Risk — Platform profitable without sponsorships (slower growth)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Next Steps (Q3-Q4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3600">
                <a:solidFill>
                  <a:srgbClr val="1F2937"/>
                </a:solidFill>
              </a:defRPr>
            </a:pPr>
            <a:r>
              <a:t>✓ Pilot launch: 20 farmers (proof of concept)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MVP modules: Agro + Monitor + Market-Access beta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Expert network: 30+ agronomists onboarded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B2B pilot: 1-2 food companies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Success metrics: 20+ active users, &lt;10% churn, +15% yield improvement, 3 companies interested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4.5M TL Seed Capital | Turkey's Agricultural Intelligence Revolution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1255</Words>
  <Application>Microsoft Office PowerPoint</Application>
  <PresentationFormat>Ekran Gösterisi (4:3)</PresentationFormat>
  <Paragraphs>151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Metin Güven</cp:lastModifiedBy>
  <cp:revision>3</cp:revision>
  <dcterms:created xsi:type="dcterms:W3CDTF">2013-01-27T09:14:16Z</dcterms:created>
  <dcterms:modified xsi:type="dcterms:W3CDTF">2026-08-08T08:49:59Z</dcterms:modified>
  <cp:category/>
</cp:coreProperties>
</file>