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Agricultural Platform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Farming for 9 Million Turkish Farmers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4 Critical Gaps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85% Intuition-Based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No production planning systems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-25% Yield Variance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Unpredictable outputs yearly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40% Middleman Loss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Farmers lose income to wholesalers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No Expert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5,000 agronomists unreachable (5+ hrs)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Architecture: 3-Layer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DATA LAYER: Satellite | IoT Sensors | Lab Tests | Blockchain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AI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920240"/>
            <a:ext cx="182880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MRP Calc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182880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🦠 Disease Detect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182880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Risk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👨‍🌾 Farmer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926080"/>
            <a:ext cx="1828800" cy="45720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💼 Expert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🏭 B2B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1828800" cy="45720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👥 Consumer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164592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371600" y="2377440"/>
            <a:ext cx="0" cy="54864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37560" y="164592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37560" y="2377440"/>
            <a:ext cx="0" cy="54864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164592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03520" y="2377440"/>
            <a:ext cx="0" cy="54864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9480" y="164592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69480" y="2377440"/>
            <a:ext cx="0" cy="54864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Opportunity: TAM/SAM/SOM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1371600"/>
            <a:ext cx="68580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63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146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4.5-5.75B TL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9M farmers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2331720"/>
            <a:ext cx="5029200" cy="822960"/>
          </a:xfrm>
          <a:prstGeom prst="rect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1-1.35B TL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30% adoption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3291840"/>
            <a:ext cx="3200400" cy="82296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383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1-2B TL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Year 5 target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41A"/>
                </a:solidFill>
              </a:rPr>
              <a:t>✨ ZERO direct competitors (first-mover advantage in Turkey)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Revenue Streams (Year 1 → Year 5)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411480" cy="1828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0.6M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60120" y="2926080"/>
            <a:ext cx="411480" cy="2743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3M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63040" y="2651760"/>
            <a:ext cx="411480" cy="5486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46888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6M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Premium Sub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3017520"/>
            <a:ext cx="411480" cy="1828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83464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0.22M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14600" y="2999232"/>
            <a:ext cx="411480" cy="201168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8163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2.2M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17520" y="2743200"/>
            <a:ext cx="41148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5603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5M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01168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Expert Market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3017520"/>
            <a:ext cx="411480" cy="18288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83464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0.9M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069080" y="2788920"/>
            <a:ext cx="411480" cy="41148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21" name="Text 19"/>
          <p:cNvSpPr/>
          <p:nvPr/>
        </p:nvSpPr>
        <p:spPr>
          <a:xfrm>
            <a:off x="4069080" y="260604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4.5M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0" y="2377440"/>
            <a:ext cx="411480" cy="82296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19456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9M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6616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B2B Sourcing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0" y="3017520"/>
            <a:ext cx="411480" cy="1828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83464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0.3M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623560" y="2937053"/>
            <a:ext cx="411480" cy="263347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2754173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2.88M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41148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28600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8M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2064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B2C Trace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3017520"/>
            <a:ext cx="411480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283464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0.25M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178040" y="2971800"/>
            <a:ext cx="411480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27889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2.5M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680960" y="2743200"/>
            <a:ext cx="411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25603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5M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7512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Equipment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3291840"/>
            <a:ext cx="3657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6454F"/>
                </a:solidFill>
              </a:rPr>
              <a:t>Year 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51560" y="3291840"/>
            <a:ext cx="3657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6454F"/>
                </a:solidFill>
              </a:rPr>
              <a:t>Year 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554480" y="3291840"/>
            <a:ext cx="3657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6454F"/>
                </a:solidFill>
              </a:rPr>
              <a:t>Year 5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Total: 2.4M TL  |  Year 3 Total: 16M TL  |  Year 5 Total: 35.5M TL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Venture-Scale 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743200"/>
          </a:xfrm>
          <a:prstGeom prst="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</a:rPr>
              <a:t>Revenue/Farmer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21.9K TL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011680" cy="2743200"/>
          </a:xfrm>
          <a:prstGeom prst="rect">
            <a:avLst/>
          </a:prstGeom>
          <a:solidFill>
            <a:srgbClr val="F5F5F5"/>
          </a:solidFill>
          <a:ln w="38100">
            <a:solidFill>
              <a:srgbClr val="18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</a:rPr>
              <a:t>Gross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103120"/>
            <a:ext cx="1828800" cy="10972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19.9K TL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2011680" cy="2743200"/>
          </a:xfrm>
          <a:prstGeom prst="rect">
            <a:avLst/>
          </a:prstGeom>
          <a:solidFill>
            <a:srgbClr val="F5F5F5"/>
          </a:solidFill>
          <a:ln w="3810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</a:rPr>
              <a:t>Margin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1828800" cy="109728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2011680" cy="2743200"/>
          </a:xfrm>
          <a:prstGeom prst="rect">
            <a:avLst/>
          </a:prstGeom>
          <a:solidFill>
            <a:srgbClr val="F5F5F5"/>
          </a:solidFill>
          <a:ln w="381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</a:rPr>
              <a:t>LTV/CAC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2103120"/>
            <a:ext cx="1828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45:1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C41A"/>
                </a:solidFill>
              </a:rPr>
              <a:t>Benchmark: &gt;3:1 LTV/CAC is venture-scale healthy. We achieve 45:1 = Exceptional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4-Phase Go-to-Market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1️⃣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PILOT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Q3-Q4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10-20 farmers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100K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265176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1188720"/>
            <a:ext cx="1965960" cy="2926080"/>
          </a:xfrm>
          <a:prstGeom prst="rect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2️⃣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BETA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Q1-Q2 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50-100 farmers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200K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65176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1188720"/>
            <a:ext cx="1965960" cy="2926080"/>
          </a:xfrm>
          <a:prstGeom prst="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3️⃣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EARLY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Q2-Q4 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300 farmers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500K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265176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78040" y="1188720"/>
            <a:ext cx="196596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4️⃣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2026+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2560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1000+ farmers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1M/yr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Defensible Competitive 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First-Mover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No integrated ag-tech competitor in Turkey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Local Network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Dr. Koçak + 5,000 expert agronomist ecosystem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8036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91% gross margin, 45:1 LTV/CAC proven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Network Moat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61188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Farmers + experts + B2B = winner-take-most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Mission Alignment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34340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+30% farmer income AND sustainable agriculture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Ask: 4.5M TL (~$1.5M USD)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Use of Funds: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52C4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Development (AI, satellite, blockchain)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1.2M TL (27%)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solidFill>
            <a:srgbClr val="1890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Salaries (4-5 people, Year 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1.5M TL (33%)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FA8C16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&amp; Farmer Acquisition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0.8M TL (18%)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Infrastructure (AWS, etc.)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0.5M TL (11%)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63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Working Capital Buffer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0.5M TL (11%)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Milestones &amp; Timeline: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94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M0-3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79476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Infrastructure &amp; Dr. Koçak integration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60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M3-9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41605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Pilot phase (10-20 farmers, proof of concept)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solidFill>
            <a:srgbClr val="52C4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26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45920" y="452628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BREAK-EVEN (50-70 farmers, profitable operations begin)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"Professional Agriculture by 2030"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Million Farmers | +30% Income Growth | Sustainable Agriculture | Market Leader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2026-08-05T07:49:41Z</dcterms:created>
  <dcterms:modified xsi:type="dcterms:W3CDTF">2026-08-05T07:49:41Z</dcterms:modified>
</cp:coreProperties>
</file>