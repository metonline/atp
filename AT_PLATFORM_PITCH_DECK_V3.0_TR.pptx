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AKILLI TARIM PLATFORMU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Türkiye'nin Tarımsal Dijital Dönüşümü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Pazar Fırsatı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Türkiye'de</a:t>
            </a:r>
            <a:r>
              <a:rPr dirty="0"/>
              <a:t> 3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çiftlik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23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hektar</a:t>
            </a:r>
            <a:r>
              <a:rPr dirty="0"/>
              <a:t> </a:t>
            </a:r>
            <a:r>
              <a:rPr dirty="0" err="1"/>
              <a:t>yönetim</a:t>
            </a:r>
            <a:r>
              <a:rPr dirty="0"/>
              <a:t> </a:t>
            </a:r>
            <a:r>
              <a:rPr dirty="0" err="1"/>
              <a:t>altında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~9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kırsal</a:t>
            </a:r>
            <a:r>
              <a:rPr dirty="0"/>
              <a:t> </a:t>
            </a:r>
            <a:r>
              <a:rPr dirty="0" err="1"/>
              <a:t>nüfus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60-80 </a:t>
            </a:r>
            <a:r>
              <a:rPr dirty="0" err="1"/>
              <a:t>Milyar</a:t>
            </a:r>
            <a:r>
              <a:rPr dirty="0"/>
              <a:t> TL </a:t>
            </a:r>
            <a:r>
              <a:rPr dirty="0" err="1"/>
              <a:t>yıllık</a:t>
            </a:r>
            <a:r>
              <a:rPr dirty="0"/>
              <a:t>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değeri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TAM: 4.5-5.75 </a:t>
            </a:r>
            <a:r>
              <a:rPr dirty="0" err="1"/>
              <a:t>Milyar</a:t>
            </a:r>
            <a:r>
              <a:rPr dirty="0"/>
              <a:t> TL (</a:t>
            </a:r>
            <a:r>
              <a:rPr dirty="0" err="1"/>
              <a:t>çiftçiler</a:t>
            </a:r>
            <a:r>
              <a:rPr dirty="0"/>
              <a:t> 500 TL/</a:t>
            </a:r>
            <a:r>
              <a:rPr dirty="0" err="1"/>
              <a:t>yıl</a:t>
            </a:r>
            <a:r>
              <a:rPr dirty="0"/>
              <a:t> </a:t>
            </a:r>
            <a:r>
              <a:rPr dirty="0" err="1"/>
              <a:t>harcamaya</a:t>
            </a:r>
            <a:r>
              <a:rPr dirty="0"/>
              <a:t> </a:t>
            </a:r>
            <a:r>
              <a:rPr dirty="0" err="1"/>
              <a:t>istekli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Dört Kritik Boşluk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1: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Planlama</a:t>
            </a:r>
            <a:r>
              <a:rPr dirty="0"/>
              <a:t> — %85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sezgisel</a:t>
            </a:r>
            <a:r>
              <a:rPr dirty="0"/>
              <a:t> </a:t>
            </a:r>
            <a:r>
              <a:rPr dirty="0" err="1"/>
              <a:t>çalışır</a:t>
            </a:r>
            <a:r>
              <a:rPr dirty="0"/>
              <a:t> (±%25 </a:t>
            </a:r>
            <a:r>
              <a:rPr dirty="0" err="1"/>
              <a:t>verim</a:t>
            </a:r>
            <a:r>
              <a:rPr dirty="0"/>
              <a:t> </a:t>
            </a:r>
            <a:r>
              <a:rPr dirty="0" err="1"/>
              <a:t>varyasyonu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2: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Erişimi</a:t>
            </a:r>
            <a:r>
              <a:rPr dirty="0"/>
              <a:t> — &lt;%10 </a:t>
            </a:r>
            <a:r>
              <a:rPr dirty="0" err="1"/>
              <a:t>ücretli</a:t>
            </a:r>
            <a:r>
              <a:rPr dirty="0"/>
              <a:t> </a:t>
            </a:r>
            <a:r>
              <a:rPr dirty="0" err="1"/>
              <a:t>danışmanlık</a:t>
            </a:r>
            <a:r>
              <a:rPr dirty="0"/>
              <a:t> </a:t>
            </a:r>
            <a:r>
              <a:rPr dirty="0" err="1"/>
              <a:t>kullanır</a:t>
            </a:r>
            <a:r>
              <a:rPr dirty="0"/>
              <a:t> (</a:t>
            </a:r>
            <a:r>
              <a:rPr dirty="0" err="1"/>
              <a:t>coğrafi</a:t>
            </a:r>
            <a:r>
              <a:rPr dirty="0"/>
              <a:t> </a:t>
            </a:r>
            <a:r>
              <a:rPr dirty="0" err="1"/>
              <a:t>izolasyon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3: </a:t>
            </a:r>
            <a:r>
              <a:rPr dirty="0" err="1"/>
              <a:t>Pazar</a:t>
            </a:r>
            <a:r>
              <a:rPr dirty="0"/>
              <a:t> </a:t>
            </a:r>
            <a:r>
              <a:rPr dirty="0" err="1"/>
              <a:t>Şeffaflığı</a:t>
            </a:r>
            <a:r>
              <a:rPr dirty="0"/>
              <a:t> — </a:t>
            </a:r>
            <a:r>
              <a:rPr dirty="0" err="1"/>
              <a:t>Çiftçiden</a:t>
            </a:r>
            <a:r>
              <a:rPr dirty="0"/>
              <a:t> </a:t>
            </a:r>
            <a:r>
              <a:rPr dirty="0" err="1"/>
              <a:t>tüketiciye</a:t>
            </a:r>
            <a:r>
              <a:rPr dirty="0"/>
              <a:t> </a:t>
            </a:r>
            <a:r>
              <a:rPr dirty="0" err="1"/>
              <a:t>görünürlük</a:t>
            </a:r>
            <a:r>
              <a:rPr dirty="0"/>
              <a:t> yok (meta </a:t>
            </a:r>
            <a:r>
              <a:rPr dirty="0" err="1"/>
              <a:t>fiyatlandırması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4: B2B </a:t>
            </a:r>
            <a:r>
              <a:rPr dirty="0" err="1"/>
              <a:t>Verimsizlik</a:t>
            </a:r>
            <a:r>
              <a:rPr dirty="0"/>
              <a:t> —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gelirinin</a:t>
            </a:r>
            <a:r>
              <a:rPr dirty="0"/>
              <a:t> %40'ı </a:t>
            </a:r>
            <a:r>
              <a:rPr dirty="0" err="1"/>
              <a:t>toptancı</a:t>
            </a:r>
            <a:r>
              <a:rPr dirty="0"/>
              <a:t> </a:t>
            </a:r>
            <a:r>
              <a:rPr dirty="0" err="1"/>
              <a:t>aracılara</a:t>
            </a:r>
            <a:r>
              <a:rPr dirty="0"/>
              <a:t> </a:t>
            </a:r>
            <a:r>
              <a:rPr dirty="0" err="1"/>
              <a:t>kayboluyor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Çiftçi Başına Mali Etki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Mevcut: Verim varyasyonu ±%25, Maliyet opaklığı, %12.5 gelir kaybı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AT Platformu 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 verim iyileştirmesi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-%15 maliyet azaltması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+%20-30 şeffaflık primleri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Tahmini çiftçi gelir artışı: +%15-20/sezon (~150K 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Çözüm: 5-Katmanlı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Katman 1: Çiftçi Portalı (Web, Mobil, Ses) — Çevrimdışı-uyumlu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2: Altı Entegre Modül (FMIS) — Üretim, İzleme, Hayvancılık, Ekipman, Yardım, Pazar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3: Hizmet Entegrasyonu — Uzman ağı, ödemeler, devlet sistemleri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4: Veri Katmanı — Bulut veritabanları, API'ler, analitikler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5: BİT Omurgası — İnformasyon (uydu, YZ) + İletişim (mobil, SMS, çevrimdışı)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Çoklu Modal Veri Alımı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Platform çiftçilerin doğal kullandığı veriyi kabul eder: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Ses (STT + NLP) — "Kuzey tarlayı yarın sulamaya başla"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Görüntü (OCR + CV) — Fatura → Harcama; Hastalık → YZ teşhis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Video (Eylem Tanıma) — 30 saniye tarla gezintisi → Ürün durumu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SMS/WhatsApp — Komut yürütmesi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Sensörler (IoT + Uydu) — Otomatik besle, manuel giriş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AR (Gerçek Zamanlı) — Telefon ürüne → Tedavi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Altı Ana Modül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FMIS.Agro — 90 günlük üretim planlama, maliyet muhasebesi, günlük disiplin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FMIS.Monitor — Uydu + IoT ürün sağlığı, YZ hastalık tespiti (72-saat erken uyarı)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FMIS.Hayvancılık — Giyilebilir sensörler, YZ veteriner teşhis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FMIS.Makina-Ekipman — P2P makine kiralama pazarı (3 kademeli seçenek)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FMIS.Yardım Masası — 24/7 YZ chatbot + uzman yükseltme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FMIS.Pazar-Erişim — B2B doğrudan satın alma + B2C QR izlenebilirlik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Pazar Konumlandırması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dirty="0" err="1"/>
              <a:t>Türkiye'de</a:t>
            </a:r>
            <a:r>
              <a:rPr dirty="0"/>
              <a:t> ENTEGRE </a:t>
            </a:r>
            <a:r>
              <a:rPr dirty="0" err="1"/>
              <a:t>tarım-teknoloji</a:t>
            </a:r>
            <a:r>
              <a:rPr lang="tr-TR" dirty="0"/>
              <a:t>sinde</a:t>
            </a:r>
            <a:r>
              <a:rPr dirty="0"/>
              <a:t> raki</a:t>
            </a:r>
            <a:r>
              <a:rPr lang="tr-TR" dirty="0"/>
              <a:t>p</a:t>
            </a:r>
            <a:r>
              <a:rPr dirty="0"/>
              <a:t>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İlk </a:t>
            </a:r>
            <a:r>
              <a:rPr dirty="0" err="1"/>
              <a:t>hareket</a:t>
            </a:r>
            <a:r>
              <a:rPr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planlama</a:t>
            </a:r>
            <a:r>
              <a:rPr dirty="0"/>
              <a:t> +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+ </a:t>
            </a:r>
            <a:r>
              <a:rPr dirty="0" err="1"/>
              <a:t>pazar</a:t>
            </a:r>
            <a:r>
              <a:rPr dirty="0"/>
              <a:t> </a:t>
            </a:r>
            <a:r>
              <a:rPr dirty="0" err="1"/>
              <a:t>erişimi</a:t>
            </a:r>
            <a:r>
              <a:rPr dirty="0"/>
              <a:t> (</a:t>
            </a:r>
            <a:r>
              <a:rPr dirty="0" err="1"/>
              <a:t>entegre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Devlet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entegrasyonu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tasarlanmış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Yerel</a:t>
            </a:r>
            <a:r>
              <a:rPr dirty="0"/>
              <a:t>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(5.000+ agronomist </a:t>
            </a:r>
            <a:r>
              <a:rPr dirty="0" err="1"/>
              <a:t>ekosistemi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lang="tr-TR" dirty="0"/>
              <a:t>"Kendi yağı ile kavrulan"</a:t>
            </a:r>
            <a:r>
              <a:rPr dirty="0"/>
              <a:t> </a:t>
            </a:r>
            <a:r>
              <a:rPr lang="tr-TR" dirty="0"/>
              <a:t>iş </a:t>
            </a:r>
            <a:r>
              <a:rPr dirty="0" err="1"/>
              <a:t>modeli</a:t>
            </a:r>
            <a:r>
              <a:rPr dirty="0"/>
              <a:t> (</a:t>
            </a:r>
            <a:r>
              <a:rPr lang="tr-TR" dirty="0"/>
              <a:t>VC </a:t>
            </a:r>
            <a:r>
              <a:rPr lang="tr-TR"/>
              <a:t>/ Sponsor - bağımsız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Gelir Modeli (5 Akış + Sponsorluklar)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Platform Geliri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Premium abonelik: 500 TL/ay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pazarı: %10-15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satın alma: %5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B2C izlenebilirlik: %8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Makina-Ekipman P2P: %15 komis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Sponsorluk Geliri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Bankalar (ödeme entegrasyonu)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Gıda şirketleri (satın alma erişimi)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Girdi tedarikçileri (pazar varlığı)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Sigorta (prim hedefleme)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Y1: 850K → Y3: 14.1M 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Mali Projeksiyonlar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Yıl 1: 2.7M TL gelir | Ay 9 başabaş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3: 70.38M TL gelir | %91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5: 113M TL gelir | %89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Birim Ekonomisi: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CAC: 1.500 TL (organik) → 20 TL (sponsorluk-yardımlı) = 75x iyileştirme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LTV: 59K TL | Geri ödeme: 3 ay | LTV/CAC: 40:1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Uygulama Yol Haritası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20-50 pilot çiftçi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Temel modüller: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pilot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30-50 uzman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Yatırım: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Faz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100-300 çiftçiye ölçekle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Hayvancılık modülü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3+ gıda şirketi ortaklığı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Series A: 2.5-3.5M TL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Veri Birikimi Stratejisi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Yıl 1-2: YZ Temeli — Uydu + hava verisi (%80 bölgesel doğruluk)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2-3: Kitlesel Katılım — 150K+ uzman değerlendirmesi (parsel-düzey)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3-5: Sahici Zeka — ±%5 doğruluk, B2B veri lisanslama (15-20M TL/yıl)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Sonuç: Maschinenring'in 60 yıllık hendek 3-5 yılda inşa edin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Savunulabilir rekabetçi avantaj = Rakip giriş bariyeri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Birim Ekonomisi &amp; Marjlar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Brüt Marj: %80-85 (SaaS + komis modeli)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İşletme Marjı İlerleme: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1: ~%8 (yatırım aşaması)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3: %91 (ölçek + sponsorluk kaldıraç)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5: %89 (olgun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Churn Hedefi: &lt;%5 aylık (uzman ağından yüksek katılım)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Neden Kazanırız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dirty="0"/>
              <a:t>✓ İlk </a:t>
            </a:r>
            <a:r>
              <a:rPr dirty="0" err="1"/>
              <a:t>hareket</a:t>
            </a:r>
            <a:r>
              <a:rPr dirty="0"/>
              <a:t> </a:t>
            </a:r>
            <a:r>
              <a:rPr dirty="0" err="1"/>
              <a:t>entegre</a:t>
            </a:r>
            <a:r>
              <a:rPr dirty="0"/>
              <a:t> </a:t>
            </a:r>
            <a:r>
              <a:rPr dirty="0" err="1"/>
              <a:t>tarım-teknoloji</a:t>
            </a:r>
            <a:r>
              <a:rPr lang="tr-TR" dirty="0"/>
              <a:t>si</a:t>
            </a:r>
            <a:r>
              <a:rPr dirty="0"/>
              <a:t> (</a:t>
            </a:r>
            <a:r>
              <a:rPr dirty="0" err="1"/>
              <a:t>Türkiye</a:t>
            </a:r>
            <a:r>
              <a:rPr lang="tr-TR" dirty="0"/>
              <a:t>’de</a:t>
            </a:r>
            <a:r>
              <a:rPr dirty="0"/>
              <a:t> </a:t>
            </a:r>
            <a:r>
              <a:rPr dirty="0" err="1"/>
              <a:t>rakibi</a:t>
            </a:r>
            <a:r>
              <a:rPr dirty="0"/>
              <a:t> yok)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Savunulabilir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hendekleri</a:t>
            </a:r>
            <a:r>
              <a:rPr dirty="0"/>
              <a:t> (Y3+ ±%5 </a:t>
            </a:r>
            <a:r>
              <a:rPr dirty="0" err="1"/>
              <a:t>doğruluk</a:t>
            </a:r>
            <a:r>
              <a:rPr dirty="0"/>
              <a:t> </a:t>
            </a:r>
            <a:r>
              <a:rPr dirty="0" err="1"/>
              <a:t>tahminleri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(</a:t>
            </a:r>
            <a:r>
              <a:rPr lang="tr-TR" dirty="0"/>
              <a:t>İtibarı ve tanınırlığı yüksek bir uzman</a:t>
            </a:r>
            <a:r>
              <a:rPr dirty="0"/>
              <a:t>, day-1 </a:t>
            </a:r>
            <a:r>
              <a:rPr dirty="0" err="1"/>
              <a:t>güven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İstisnaî</a:t>
            </a:r>
            <a:r>
              <a:rPr dirty="0"/>
              <a:t> </a:t>
            </a:r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ekonomisi</a:t>
            </a:r>
            <a:r>
              <a:rPr dirty="0"/>
              <a:t> (CAC 20 TL </a:t>
            </a:r>
            <a:r>
              <a:rPr dirty="0" err="1"/>
              <a:t>sponsorluklarla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Sürdürülebilir</a:t>
            </a:r>
            <a:r>
              <a:rPr dirty="0"/>
              <a:t> </a:t>
            </a:r>
            <a:r>
              <a:rPr dirty="0" err="1"/>
              <a:t>finansman</a:t>
            </a:r>
            <a:r>
              <a:rPr dirty="0"/>
              <a:t> (VC-</a:t>
            </a:r>
            <a:r>
              <a:rPr dirty="0" err="1"/>
              <a:t>bağımlı</a:t>
            </a:r>
            <a:r>
              <a:rPr dirty="0"/>
              <a:t> </a:t>
            </a:r>
            <a:r>
              <a:rPr dirty="0" err="1"/>
              <a:t>değil</a:t>
            </a:r>
            <a:r>
              <a:rPr dirty="0"/>
              <a:t>; </a:t>
            </a:r>
            <a:r>
              <a:rPr dirty="0" err="1"/>
              <a:t>sponsorluklar</a:t>
            </a:r>
            <a:r>
              <a:rPr dirty="0"/>
              <a:t> +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Misyon-yönelimli</a:t>
            </a:r>
            <a:r>
              <a:rPr dirty="0"/>
              <a:t> (</a:t>
            </a:r>
            <a:r>
              <a:rPr dirty="0" err="1"/>
              <a:t>çiftçiler</a:t>
            </a:r>
            <a:r>
              <a:rPr dirty="0"/>
              <a:t> +%30 </a:t>
            </a:r>
            <a:r>
              <a:rPr dirty="0" err="1"/>
              <a:t>kazanır</a:t>
            </a:r>
            <a:r>
              <a:rPr dirty="0"/>
              <a:t>, </a:t>
            </a:r>
            <a:r>
              <a:rPr dirty="0" err="1"/>
              <a:t>tarım</a:t>
            </a:r>
            <a:r>
              <a:rPr dirty="0"/>
              <a:t> </a:t>
            </a:r>
            <a:r>
              <a:rPr dirty="0" err="1"/>
              <a:t>sürdürülebilir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dirty="0" err="1"/>
              <a:t>Finansman</a:t>
            </a:r>
            <a:r>
              <a:rPr dirty="0"/>
              <a:t> </a:t>
            </a:r>
            <a:r>
              <a:rPr dirty="0" err="1"/>
              <a:t>Talebi</a:t>
            </a:r>
            <a:r>
              <a:rPr dirty="0"/>
              <a:t>: 4.5M TL (~$</a:t>
            </a:r>
            <a:r>
              <a:rPr sz="3600" dirty="0"/>
              <a:t>1.5M</a:t>
            </a:r>
            <a:r>
              <a:rPr lang="tr-TR" sz="3600" dirty="0"/>
              <a:t> </a:t>
            </a:r>
            <a:r>
              <a:rPr sz="3600" dirty="0"/>
              <a:t>USD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Ürün &amp; Teknoloji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Mobil uygulama: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YZ/ML hattı: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Uydu entegrasyonu: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Operasyon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Ekip (5-6 mühendis,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Pazarlama &amp; kazanım: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 &amp; barındırma: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Buffer &amp; acil durum: 0.5M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Takım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Dr. Ahmet Koçak — Lider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4.7/5 uzman derecelendirmesi, 5.000+ uzman ağı, day-1 kredibilite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[CEO/Kurucu] — Platform vizyon, teknoloji liderliği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[CTO] — YZ/ML, uydu verisi, blockchain uzmanlığı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[COO] — Tarımsal operasyonlar, çiftçi ilişkileri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Işe alma: Kıdemli mühendisler, müşteri başarısı, ortaklıklar Ay 2'den itibaren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Devlet Veri Entegrasyonu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Mimari Devlet sistemleri ile sorunsuz entegrasyon için tasarlandı: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LPIS parsel defteri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Uydu verisi (Copernicus, ücretsiz katman)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TARSIM tarihsel verim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TSMS hava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AT = Devlet verilerini çiftçi sonuçlarına çeviren operations katmanı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Farklılaştırma: Çevirme, uzmanlar, pazar erişimi, gelir modeli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Risk Azaltma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Teknoloji Riski — Copernicus küresel olarak doğrulanmış; YZ v1 MVP'de test (20 çiftçi)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Pazar Riski — Dr. Koçak onayı ile MVP (güvenilir ses); teşvik-uyumlu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Rekabet Riski — 3 yıllık baş başla, uzman ağı savunulabilir, veri hendek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Düzenleme Riski — KVKK audit MVP'de; ISO 27001 Faz 1 tarafından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Mali Riski — Platform sponsorluklar olmadan kârlı (daha yavaş büyüme)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Sonraki Adımlar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✓ Pilot başlatma: 20 çiftçi (kavram kanıtı)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MVP modülleri: Agro + Monitor + Pazar-Erişim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Uzman ağı: 30+ agronomist onboarded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B2B pilot: 1-2 gıda şirketi test ediyor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Başarı metrikleri: 20+ aktif kullanıcı, &lt;%10 churn, +%15 verim, 3 şirket ilgi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Talep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4.5M TL Seed Sermayesi | Türkiye'nin Tarımsal Zeka Devrimi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1240</Words>
  <Application>Microsoft Office PowerPoint</Application>
  <PresentationFormat>Ekran Gösterisi (4:3)</PresentationFormat>
  <Paragraphs>150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Metin Güven</cp:lastModifiedBy>
  <cp:revision>8</cp:revision>
  <dcterms:created xsi:type="dcterms:W3CDTF">2013-01-27T09:14:16Z</dcterms:created>
  <dcterms:modified xsi:type="dcterms:W3CDTF">2026-08-08T08:48:39Z</dcterms:modified>
  <cp:category/>
</cp:coreProperties>
</file>