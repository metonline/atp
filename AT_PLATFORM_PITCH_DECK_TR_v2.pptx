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AKILLI TARIM PLATFORMU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3F4F6"/>
                </a:solidFill>
              </a:defRPr>
            </a:pPr>
            <a:r>
              <a:t>Türkiye'nin Tarımsal Dijital Dönüşümü</a:t>
            </a:r>
          </a:p>
        </p:txBody>
      </p:sp>
    </p:spTree>
  </p:cSld>
  <p:clrMapOvr>
    <a:masterClrMapping/>
  </p:clrMapOvr>
  <p:transition spd="med" advTm="3000">
    <p:fade thruBlk="false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Pazar Fırsatı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• Türkiye'de 3 milyon çiftlik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• 23 milyon hektar yönetim altında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• ~9 milyon kırsal nüfus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• 60-80 Milyar TL yıllık üretim değeri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• TAM: 4.5-5.75 Milyar TL (çiftçiler 500 TL/yıl harcamaya istekli)</a:t>
            </a:r>
          </a:p>
        </p:txBody>
      </p:sp>
    </p:spTree>
  </p:cSld>
  <p:clrMapOvr>
    <a:masterClrMapping/>
  </p:clrMapOvr>
  <p:transition spd="med" advTm="3000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Dört Kritik Boşluk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Boşluk 1: Üretim Planlama — %85 çiftçi sezgisel çalışır (±%25 verim varyasyonu)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Boşluk 2: Uzman Erişimi — &lt;%10 ücretli danışmanlık kullanır (coğrafi izolasyon)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Boşluk 3: Pazar Şeffaflığı — Çiftçiden tüketiciye görünürlük yok (meta fiyatlandırması)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Boşluk 4: B2B Verimsizlik — Çiftçi gelirinin %40'ı toptancı aracılara kayboluyor</a:t>
            </a:r>
          </a:p>
        </p:txBody>
      </p:sp>
    </p:spTree>
  </p:cSld>
  <p:clrMapOvr>
    <a:masterClrMapping/>
  </p:clrMapOvr>
  <p:transition spd="med" advTm="3000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Çiftçi Başına Mali Etki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Mevcut: Verim varyasyonu ±%25, Maliyet opaklığı, %12.5 gelir kaybı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AT Platformu ile: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+%20 verim iyileştirmesi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-%15 maliyet azaltması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+%20-30 şeffaflık primleri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Tahmini çiftçi gelir artışı: +%15-20/sezon (~150K TL)</a:t>
            </a:r>
          </a:p>
        </p:txBody>
      </p:sp>
    </p:spTree>
  </p:cSld>
  <p:clrMapOvr>
    <a:masterClrMapping/>
  </p:clrMapOvr>
  <p:transition spd="med" advTm="3000">
    <p:fade thruBlk="false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Çözüm: 5-Katmanlı Mimari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Katman 1: Çiftçi Portalı (Web, Mobil, Ses) — Çevrimdışı-uyumlu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Katman 2: Altı Entegre Modül (FMIS) — Üretim, İzleme, Hayvancılık, Ekipman, Yardım, Pazar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Katman 3: Hizmet Entegrasyonu — Uzman ağı, ödemeler, devlet sistemleri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Katman 4: Veri Katmanı — Bulut veritabanları, API'ler, analitikler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Katman 5: BİT Omurgası — İnformasyon (uydu, YZ) + İletişim (mobil, SMS, çevrimdışı)</a:t>
            </a:r>
          </a:p>
        </p:txBody>
      </p:sp>
    </p:spTree>
  </p:cSld>
  <p:clrMapOvr>
    <a:masterClrMapping/>
  </p:clrMapOvr>
  <p:transition spd="med" advTm="3000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Çoklu Modal Veri Alımı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Platform çiftçilerin doğal kullandığı veriyi kabul eder: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Ses (STT + NLP) — "Kuzey tarlayı yarın sulamaya başla"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Görüntü (OCR + CV) — Fatura → Harcama; Hastalık → YZ teşhis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Video (Eylem Tanıma) — 30 saniye tarla gezintisi → Ürün durumu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SMS/WhatsApp — Komut yürütmesi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Sensörler (IoT + Uydu) — Otomatik besle, manuel giriş yok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AR (Gerçek Zamanlı) — Telefon ürüne → Tedavi overlay</a:t>
            </a:r>
          </a:p>
        </p:txBody>
      </p:sp>
    </p:spTree>
  </p:cSld>
  <p:clrMapOvr>
    <a:masterClrMapping/>
  </p:clrMapOvr>
  <p:transition spd="med" advTm="3000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Altı Ana Modül (FMIS)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FMIS.Agro — 90 günlük üretim planlama, maliyet muhasebesi, günlük disiplin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FMIS.Monitor — Uydu + IoT ürün sağlığı, YZ hastalık tespiti (72-saat erken uyarı)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FMIS.Hayvancılık — Giyilebilir sensörler, YZ veteriner teşhis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FMIS.Makina-Ekipman — P2P makine kiralama pazarı (3 kademeli seçenek)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FMIS.Yardım Masası — 24/7 YZ chatbot + uzman yükseltme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FMIS.Pazar-Erişim — B2B doğrudan satın alma + B2C QR izlenebilirlik</a:t>
            </a:r>
          </a:p>
        </p:txBody>
      </p:sp>
    </p:spTree>
  </p:cSld>
  <p:clrMapOvr>
    <a:masterClrMapping/>
  </p:clrMapOvr>
  <p:transition spd="med" advTm="3000">
    <p:fade thruBlk="false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Pazar Konumlandırması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Türkiye'de ENTEGREyorum tarım-teknoloji rakibi YOK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İlk hareket: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Üretim planlama + uzman ağı + pazar erişimi (entegre)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Devlet veri entegrasyonu için tasarlanmış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Yerel uzman ağı (Dr. Koçak, 5.000+ agronomist ekosistemi)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Gelir-ilk modeli (VC-bağımlı değildir, sponsorluklar)</a:t>
            </a:r>
          </a:p>
        </p:txBody>
      </p:sp>
    </p:spTree>
  </p:cSld>
  <p:clrMapOvr>
    <a:masterClrMapping/>
  </p:clrMapOvr>
  <p:transition spd="med" advTm="3000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Gelir Modeli (5 Akış + Sponsorluklar)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DA5"/>
                </a:solidFill>
              </a:defRPr>
            </a:pPr>
            <a:r>
              <a:t>Platform Geliri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Premium abonelik: 500 TL/ay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Uzman pazarı: %10-15 komis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B2B satın alma: %5 komis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B2C izlenebilirlik: %8 komis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Makina-Ekipman P2P: %15 komis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DA5"/>
                </a:solidFill>
              </a:defRPr>
            </a:pPr>
            <a:r>
              <a:t>Sponsorluk Geliri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Bankalar (ödeme entegrasyonu)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Gıda şirketleri (satın alma erişimi)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Girdi tedarikçileri (pazar varlığı)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Sigorta (prim hedefleme)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Y1: 850K → Y3: 14.1M TL</a:t>
            </a:r>
          </a:p>
        </p:txBody>
      </p:sp>
    </p:spTree>
  </p:cSld>
  <p:clrMapOvr>
    <a:masterClrMapping/>
  </p:clrMapOvr>
  <p:transition spd="med" advTm="3000">
    <p:wipe dir="r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Mali Projeksiyonlar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Yıl 1: 2.7M TL gelir | Ay 9 başabaş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Yıl 3: 70.38M TL gelir | %91 işletme marjı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Yıl 5: 113M TL gelir | %89 işletme marjı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Birim Ekonomisi: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CAC: 1.500 TL (organik) → 20 TL (sponsorluk-yardımlı) = 75x iyileştirme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LTV: 59K TL | Geri ödeme: 3 ay | LTV/CAC: 40:1</a:t>
            </a:r>
          </a:p>
        </p:txBody>
      </p:sp>
    </p:spTree>
  </p:cSld>
  <p:clrMapOvr>
    <a:masterClrMapping/>
  </p:clrMapOvr>
  <p:transition spd="med" advTm="3000">
    <p:wipe dir="r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Uygulama Yol Haritası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DA5"/>
                </a:solidFill>
              </a:defRPr>
            </a:pPr>
            <a:r>
              <a:t>MVP (M0-6)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20-50 pilot çiftçi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Temel modüller: Agro + Monitor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B2B pilot başlatma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30-50 uzman onboarding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Yatırım: ~3M 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DA5"/>
                </a:solidFill>
              </a:defRPr>
            </a:pPr>
            <a:r>
              <a:t>Faz 1 (M6-12)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100-300 çiftçiye ölçekle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Uzman pazarı başlatma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Hayvancılık modülü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• 3+ gıda şirketi ortaklığı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Series A: 2.5-3.5M TL</a:t>
            </a:r>
          </a:p>
        </p:txBody>
      </p:sp>
    </p:spTree>
  </p:cSld>
  <p:clrMapOvr>
    <a:masterClrMapping/>
  </p:clrMapOvr>
  <p:transition spd="med" advTm="3000">
    <p:wipe dir="r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Veri Birikimi Stratejisi (Y1-Y5)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Yıl 1-2: YZ Temeli — Uydu + hava verisi (%80 bölgesel doğruluk)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Yıl 2-3: Kitlesel Katılım — 150K+ uzman değerlendirmesi (parsel-düzey)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Yıl 3-5: Sahici Zeka — ±%5 doğruluk, B2B veri lisanslama (15-20M TL/yıl)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Sonuç: Maschinenring'in 60 yıllık hendek 3-5 yılda inşa edin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Savunulabilir rekabetçi avantaj = Rakip giriş bariyeri</a:t>
            </a:r>
          </a:p>
        </p:txBody>
      </p:sp>
    </p:spTree>
  </p:cSld>
  <p:clrMapOvr>
    <a:masterClrMapping/>
  </p:clrMapOvr>
  <p:transition spd="med" advTm="3000">
    <p:fade thruBlk="false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Birim Ekonomisi &amp; Marjlar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Brüt Marj: %80-85 (SaaS + komis modeli)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İşletme Marjı İlerleme: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Yıl 1: ~%8 (yatırım aşaması)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Yıl 3: %91 (ölçek + sponsorluk kaldıraç)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Yıl 5: %89 (olgun platform)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Churn Hedefi: &lt;%5 aylık (uzman ağından yüksek katılım)</a:t>
            </a:r>
          </a:p>
        </p:txBody>
      </p:sp>
    </p:spTree>
  </p:cSld>
  <p:clrMapOvr>
    <a:masterClrMapping/>
  </p:clrMapOvr>
  <p:transition spd="med" advTm="3000">
    <p:push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Neden Kazanırız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İlk hareket entegre tarım-teknolojide (Türkiye rakibi yok)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Savunulabilir veri hendekleri (Y3+ ±%5 doğruluk tahminleri)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Uzman ağı (Dr. Koçak kredibilitesi, day-1 güven)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İstisnaî birim ekonomisi (CAC 20 TL sponsorluklarla)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Sürdürülebilir finansman (VC-bağımlı değil; sponsorluklar + platform)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Misyon-yönelimli (çiftçiler +%30 kazanır, tarım sürdürülebilir)</a:t>
            </a:r>
          </a:p>
        </p:txBody>
      </p:sp>
    </p:spTree>
  </p:cSld>
  <p:clrMapOvr>
    <a:masterClrMapping/>
  </p:clrMapOvr>
  <p:transition spd="med" advTm="3000">
    <p:wipe dir="r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Finansman Talebi: 4.5M TL (~$1.5M USD)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DA5"/>
                </a:solidFill>
              </a:defRPr>
            </a:pPr>
            <a:r>
              <a:t>Ürün &amp; Teknoloji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Platform MVP: 1.2M TL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Mobil uygulama: 150K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YZ/ML hattı: 100K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Uydu entegrasyonu: 25K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Altyapı: 80K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DA5"/>
                </a:solidFill>
              </a:defRPr>
            </a:pPr>
            <a:r>
              <a:t>Operasyon &amp; 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Ekip (5-6 mühendis, ops): 1.5M TL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Pazarlama &amp; kazanım: 0.8M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Altyapı &amp; barındırma: 0.5M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1F2937"/>
                </a:solidFill>
              </a:defRPr>
            </a:pPr>
            <a:r>
              <a:t>Buffer &amp; acil durum: 0.5M</a:t>
            </a:r>
          </a:p>
        </p:txBody>
      </p:sp>
    </p:spTree>
  </p:cSld>
  <p:clrMapOvr>
    <a:masterClrMapping/>
  </p:clrMapOvr>
  <p:transition spd="med" advTm="3000">
    <p:wipe dir="r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Takım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Dr. Ahmet Koçak — Lider agronomist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→ 4.7/5 uzman derecelendirmesi, 5.000+ uzman ağı, day-1 kredibilite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[CEO/Kurucu] — Platform vizyon, teknoloji liderliği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[CTO] — YZ/ML, uydu verisi, blockchain uzmanlığı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[COO] — Tarımsal operasyonlar, çiftçi ilişkileri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Işe alma: Kıdemli mühendisler, müşteri başarısı, ortaklıklar Ay 2'den itibaren</a:t>
            </a:r>
          </a:p>
        </p:txBody>
      </p:sp>
    </p:spTree>
  </p:cSld>
  <p:clrMapOvr>
    <a:masterClrMapping/>
  </p:clrMapOvr>
  <p:transition spd="med" advTm="3000">
    <p:fade thruBlk="false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Devlet Veri Entegrasyonu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Mimari Devlet sistemleri ile sorunsuz entegrasyon için tasarlandı: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LPIS parsel defteri verisi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Uydu verisi (Copernicus, ücretsiz katman)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TARSIM tarihsel verim verisi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  • TSMS hava verisi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AT = Devlet verilerini çiftçi sonuçlarına çeviren operations katmanı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Farklılaştırma: Çevirme, uzmanlar, pazar erişimi, gelir modeli</a:t>
            </a:r>
          </a:p>
        </p:txBody>
      </p:sp>
    </p:spTree>
  </p:cSld>
  <p:clrMapOvr>
    <a:masterClrMapping/>
  </p:clrMapOvr>
  <p:transition spd="med" advTm="3000">
    <p:push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Risk Azaltma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Teknoloji Riski — Copernicus küresel olarak doğrulanmış; YZ v1 MVP'de test (20 çiftçi)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Pazar Riski — Dr. Koçak onayı ile MVP (güvenilir ses); teşvik-uyumlu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Rekabet Riski — 3 yıllık baş başla, uzman ağı savunulabilir, veri hendek (Y3+)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Düzenleme Riski — KVKK audit MVP'de; ISO 27001 Faz 1 tarafından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Mali Riski — Platform sponsorluklar olmadan kârlı (daha yavaş büyüme)</a:t>
            </a:r>
          </a:p>
        </p:txBody>
      </p:sp>
    </p:spTree>
  </p:cSld>
  <p:clrMapOvr>
    <a:masterClrMapping/>
  </p:clrMapOvr>
  <p:transition spd="med" advTm="3000">
    <p:wipe dir="r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Sonraki Adımlar (Q3-Q4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Pilot başlatma: 20 çiftçi (kavram kanıtı)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MVP modülleri: Agro + Monitor + Pazar-Erişim beta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Uzman ağı: 30+ agronomist onboarded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✓ B2B pilot: 1-2 gıda şirketi test ediyor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F2937"/>
                </a:solidFill>
              </a:defRPr>
            </a:pPr>
            <a:r>
              <a:t>Başarı metrikleri: 20+ aktif kullanıcı, &lt;%10 churn, +%15 verim, 3 şirket ilgi</a:t>
            </a:r>
          </a:p>
        </p:txBody>
      </p:sp>
    </p:spTree>
  </p:cSld>
  <p:clrMapOvr>
    <a:masterClrMapping/>
  </p:clrMapOvr>
  <p:transition spd="med" advTm="3000">
    <p:fade thruBlk="false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Talep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3F4F6"/>
                </a:solidFill>
              </a:defRPr>
            </a:pPr>
            <a:r>
              <a:t>4.5M TL Seed Sermayesi | Türkiye'nin Tarımsal Zeka Devrimi</a:t>
            </a:r>
          </a:p>
        </p:txBody>
      </p:sp>
    </p:spTree>
  </p:cSld>
  <p:clrMapOvr>
    <a:masterClrMapping/>
  </p:clrMapOvr>
  <p:transition spd="med" advTm="3000">
    <p:fade thruBlk="false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